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0"/>
            <a:ext cx="5330952" cy="685800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Shape 3"/>
          <p:cNvSpPr/>
          <p:nvPr/>
        </p:nvSpPr>
        <p:spPr>
          <a:xfrm>
            <a:off x="7315200" y="594360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594360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0" y="1399032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0" y="1399032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16949:2016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0" y="2203704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203704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14001:2015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3008376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3008376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45001:2018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0" y="3813048"/>
            <a:ext cx="2286000" cy="475488"/>
          </a:xfrm>
          <a:prstGeom prst="roundRect">
            <a:avLst>
              <a:gd name="adj" fmla="val 2307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0" y="3813048"/>
            <a:ext cx="2286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AS9100D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784080" y="5486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784080" y="868680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Modules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9784080" y="1353312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784080" y="1673352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Standards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9784080" y="215798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784080" y="24780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ISO Auditor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9784080" y="296265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360°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9784080" y="3282696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Coverage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56032" y="3657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13000" dirty="0"/>
          </a:p>
        </p:txBody>
      </p:sp>
      <p:sp>
        <p:nvSpPr>
          <p:cNvPr id="24" name="Text 22"/>
          <p:cNvSpPr/>
          <p:nvPr/>
        </p:nvSpPr>
        <p:spPr>
          <a:xfrm>
            <a:off x="256032" y="20574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ISO Manager Platform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256032" y="2724912"/>
            <a:ext cx="4754880" cy="64008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2852928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world's most intelligent, all-in-one ISO 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 — powered by your AI Lead ISO Auditor.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56032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ACSI — Advanced Compliance Solutions International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of ISO Compliance Today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right system — it's a battlefield of spreadsheets, lost records, and audit anxiety.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5270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02920" y="2075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Spreadsheets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 in one file. Risks in another. Audits in a folder nobody remembers. Nothing talks to anything.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79392" y="1389888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79392" y="15270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416552" y="2075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Anxiety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416552" y="23774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external audit feels like a fire drill. Scrambling to find documents and evidence at the last minute.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193024" y="1389888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93024" y="152704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330184" y="207568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Traceability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330184" y="237744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prove a corrective action was effective? Most teams can't. Documents have no version history.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5387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🧩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02920" y="4087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Teams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38912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Quality, EHS, Ops, and Management in separate worlds. No shared visibility on what's open or overdue.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79392" y="3401568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279392" y="35387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⏰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416552" y="4087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Expert Hours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16552" y="438912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best people spend hours on administrative compliance instead of driving real improvement.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193024" y="3401568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1E293B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193024" y="3538728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📉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330184" y="408736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Chargebacks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330184" y="4389120"/>
            <a:ext cx="33832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 closed-loop CAPA system, the same problems keep coming back. Costing money and relationships.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0" y="644652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familiar? There is a better way.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Introducing the ISO Manager Platform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module. Total quality control — for every ISO standard you run.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2148840"/>
            <a:ext cx="2743200" cy="2743200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56032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709160" y="37033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Isa AI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100584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NC &amp; CAPA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514600" y="1211580"/>
            <a:ext cx="2194560" cy="0"/>
          </a:xfrm>
          <a:prstGeom prst="line">
            <a:avLst/>
          </a:prstGeom>
          <a:noFill/>
          <a:ln w="8890">
            <a:solidFill>
              <a:srgbClr val="3B82F6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228600" y="20116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8B5CF6">
              <a:alpha val="18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Documentation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14600" y="2217420"/>
            <a:ext cx="2194560" cy="0"/>
          </a:xfrm>
          <a:prstGeom prst="line">
            <a:avLst/>
          </a:prstGeom>
          <a:noFill/>
          <a:ln w="8890">
            <a:solidFill>
              <a:srgbClr val="8B5CF6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28600" y="301752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Internal Audit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14600" y="3223260"/>
            <a:ext cx="219456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228600" y="402336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2860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LPA Audits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514600" y="4229100"/>
            <a:ext cx="2194560" cy="0"/>
          </a:xfrm>
          <a:prstGeom prst="line">
            <a:avLst/>
          </a:prstGeom>
          <a:noFill/>
          <a:ln w="8890">
            <a:solidFill>
              <a:srgbClr val="F59E0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228600" y="502920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8600" y="5029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Risk Register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14600" y="5234940"/>
            <a:ext cx="2194560" cy="0"/>
          </a:xfrm>
          <a:prstGeom prst="line">
            <a:avLst/>
          </a:prstGeom>
          <a:noFill/>
          <a:ln w="8890">
            <a:solidFill>
              <a:srgbClr val="EA6C19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9646920" y="100584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46920" y="1005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Supplier Mgmt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52360" y="1211580"/>
            <a:ext cx="2194560" cy="0"/>
          </a:xfrm>
          <a:prstGeom prst="line">
            <a:avLst/>
          </a:prstGeom>
          <a:noFill/>
          <a:ln w="8890">
            <a:solidFill>
              <a:srgbClr val="3B82F6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9646920" y="201168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8B5CF6">
              <a:alpha val="18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46920" y="20116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Mgmt Review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52360" y="2217420"/>
            <a:ext cx="2194560" cy="0"/>
          </a:xfrm>
          <a:prstGeom prst="line">
            <a:avLst/>
          </a:prstGeom>
          <a:noFill/>
          <a:ln w="8890">
            <a:solidFill>
              <a:srgbClr val="8B5CF6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9646920" y="301752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46920" y="301752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Training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52360" y="3223260"/>
            <a:ext cx="2194560" cy="0"/>
          </a:xfrm>
          <a:prstGeom prst="line">
            <a:avLst/>
          </a:prstGeom>
          <a:noFill/>
          <a:ln w="8890">
            <a:solidFill>
              <a:srgbClr val="22C55E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9646920" y="402336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F59E0B">
              <a:alpha val="1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646920" y="40233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Preventive Maint.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452360" y="4229100"/>
            <a:ext cx="2194560" cy="0"/>
          </a:xfrm>
          <a:prstGeom prst="line">
            <a:avLst/>
          </a:prstGeom>
          <a:noFill/>
          <a:ln w="8890">
            <a:solidFill>
              <a:srgbClr val="F59E0B"/>
            </a:solidFill>
            <a:prstDash val="dash"/>
          </a:ln>
        </p:spPr>
      </p:sp>
      <p:sp>
        <p:nvSpPr>
          <p:cNvPr id="37" name="Shape 35"/>
          <p:cNvSpPr/>
          <p:nvPr/>
        </p:nvSpPr>
        <p:spPr>
          <a:xfrm>
            <a:off x="9646920" y="5029200"/>
            <a:ext cx="2286000" cy="411480"/>
          </a:xfrm>
          <a:prstGeom prst="roundRect">
            <a:avLst>
              <a:gd name="adj" fmla="val 2666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46920" y="502920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Calibration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452360" y="5234940"/>
            <a:ext cx="2194560" cy="0"/>
          </a:xfrm>
          <a:prstGeom prst="line">
            <a:avLst/>
          </a:prstGeom>
          <a:noFill/>
          <a:ln w="8890">
            <a:solidFill>
              <a:srgbClr val="EA6C19"/>
            </a:solidFill>
            <a:prstDash val="dash"/>
          </a:ln>
        </p:spPr>
      </p:sp>
      <p:sp>
        <p:nvSpPr>
          <p:cNvPr id="40" name="Text 38"/>
          <p:cNvSpPr/>
          <p:nvPr/>
        </p:nvSpPr>
        <p:spPr>
          <a:xfrm>
            <a:off x="0" y="6446520"/>
            <a:ext cx="1219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manufacturers. Certified by results.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02920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54864"/>
            <a:ext cx="91440" cy="674827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384048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74320" y="7772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</a:t>
            </a:r>
            <a:endParaRPr lang="en-US" sz="8000" dirty="0"/>
          </a:p>
        </p:txBody>
      </p:sp>
      <p:sp>
        <p:nvSpPr>
          <p:cNvPr id="9" name="Text 7"/>
          <p:cNvSpPr/>
          <p:nvPr/>
        </p:nvSpPr>
        <p:spPr>
          <a:xfrm>
            <a:off x="274320" y="175564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Lead ISO Auditor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2286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2304288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is not a chatbot. She is a domain-trained AI modeled after a Senior Lead ISO Auditor with deep expertise across IATF 16949, ISO 9001, ISO 14001, ISO 45001, and AS9100D.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74320" y="327355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Cites exact clause numbers in every answer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606040" y="3273552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Finds QMS gaps before auditors do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7490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Drafts procedures, WIs &amp; forms on demand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06040" y="3749040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Analyzes NC data for systemic root causes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42245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🗓️  Guides management review preparation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606040" y="4224528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Understands all OEM customer-specific requirements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74320" y="470001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Explains complex requirements in plain language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606040" y="4700016"/>
            <a:ext cx="2240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Available 24/7 — no scheduling, no waiting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57800" y="34747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33415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</a:t>
            </a:r>
            <a:endParaRPr lang="en-US" sz="7200" dirty="0"/>
          </a:p>
        </p:txBody>
      </p:sp>
      <p:sp>
        <p:nvSpPr>
          <p:cNvPr id="21" name="Text 19"/>
          <p:cNvSpPr/>
          <p:nvPr/>
        </p:nvSpPr>
        <p:spPr>
          <a:xfrm>
            <a:off x="5257800" y="8686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reviewed our entire control plan and PFMEA in 20 minutes and flagged three gaps our external auditor missed. She cited chapter and verse.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57800" y="1874520"/>
            <a:ext cx="6675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Quality Manager, Tier 1 Automotive Supplier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589520" y="2395728"/>
            <a:ext cx="4297680" cy="530352"/>
          </a:xfrm>
          <a:prstGeom prst="roundRect">
            <a:avLst>
              <a:gd name="adj" fmla="val 17241"/>
            </a:avLst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2450592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Isa, what does IATF 16949 clause 8.7.1.1 require for warranty management?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212080" y="3127248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3520" y="3182112"/>
            <a:ext cx="4114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8.7.1.1 requires a warranty management process including analysis of warranty returns. You must implement a 'no-trouble-found' (NTF) process per customer-specific requirements — let me walk you through the key elements...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589520" y="4343400"/>
            <a:ext cx="4297680" cy="530352"/>
          </a:xfrm>
          <a:prstGeom prst="roundRect">
            <a:avLst>
              <a:gd name="adj" fmla="val 17241"/>
            </a:avLst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80960" y="4398264"/>
            <a:ext cx="4114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you review my control plan and tell me if it meets the standard?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212080" y="4983480"/>
            <a:ext cx="4297680" cy="777240"/>
          </a:xfrm>
          <a:prstGeom prst="roundRect">
            <a:avLst>
              <a:gd name="adj" fmla="val 11765"/>
            </a:avLst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0" y="5038344"/>
            <a:ext cx="41148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Absolutely. Upload your control plan and I will check it against IATF §8.3.3.3 — including special characteristics, sample sizes, and reaction plans.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257800" y="640080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A6C19">
              <a:alpha val="18000"/>
            </a:srgbClr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57800" y="640080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ACSI · Powered by Anthropic Claude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Compliance Command Center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metric, every module, every alert — unified in one intelligent dashboard.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11612880" cy="5376672"/>
          </a:xfrm>
          <a:prstGeom prst="roundRect">
            <a:avLst>
              <a:gd name="adj" fmla="val 2551"/>
            </a:avLst>
          </a:prstGeom>
          <a:solidFill>
            <a:srgbClr val="1E293B"/>
          </a:solidFill>
          <a:ln w="1016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70432"/>
            <a:ext cx="11612880" cy="438912"/>
          </a:xfrm>
          <a:prstGeom prst="roundRect">
            <a:avLst>
              <a:gd name="adj" fmla="val 31250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252728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Manager  ·  CCI Chemical, Inc.  ·  IATF 16949:2016  ·  Isa ● Online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737360"/>
            <a:ext cx="1783080" cy="987552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10512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11480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Readiness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22576" y="1737360"/>
            <a:ext cx="1783080" cy="987552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322576" y="1810512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322576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NCs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233672" y="1737360"/>
            <a:ext cx="1783080" cy="987552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33672" y="1810512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233672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Assessed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144768" y="1737360"/>
            <a:ext cx="1783080" cy="987552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44768" y="1810512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144768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Docs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055864" y="1737360"/>
            <a:ext cx="1783080" cy="987552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 w="15240">
            <a:solidFill>
              <a:srgbClr val="EA6C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55864" y="1810512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8055864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9966960" y="1737360"/>
            <a:ext cx="1783080" cy="987552"/>
          </a:xfrm>
          <a:prstGeom prst="roundRect">
            <a:avLst>
              <a:gd name="adj" fmla="val 9259"/>
            </a:avLst>
          </a:prstGeom>
          <a:solidFill>
            <a:srgbClr val="0F172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66960" y="1810512"/>
            <a:ext cx="17830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9966960" y="2359152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CAPAs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11480" y="2862072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11480" y="2862072"/>
            <a:ext cx="17830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0" name="Text 28"/>
          <p:cNvSpPr/>
          <p:nvPr/>
        </p:nvSpPr>
        <p:spPr>
          <a:xfrm>
            <a:off x="475488" y="2990088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Documentation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75488" y="3392424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docs active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75488" y="403250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322576" y="2862072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22576" y="2862072"/>
            <a:ext cx="178308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2386584" y="2990088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NC &amp; CAPA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386584" y="3392424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open cases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386584" y="403250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233672" y="2862072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233672" y="2862072"/>
            <a:ext cx="17830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0" name="Text 38"/>
          <p:cNvSpPr/>
          <p:nvPr/>
        </p:nvSpPr>
        <p:spPr>
          <a:xfrm>
            <a:off x="4297680" y="2990088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Internal Audit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97680" y="3392424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Q3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297680" y="403250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144768" y="2862072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44768" y="2862072"/>
            <a:ext cx="1783080" cy="7315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5" name="Text 43"/>
          <p:cNvSpPr/>
          <p:nvPr/>
        </p:nvSpPr>
        <p:spPr>
          <a:xfrm>
            <a:off x="6208776" y="2990088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Risk Register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208776" y="3392424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assessed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208776" y="403250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48" name="Shape 46"/>
          <p:cNvSpPr/>
          <p:nvPr/>
        </p:nvSpPr>
        <p:spPr>
          <a:xfrm>
            <a:off x="8055864" y="2862072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055864" y="2862072"/>
            <a:ext cx="17830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50" name="Text 48"/>
          <p:cNvSpPr/>
          <p:nvPr/>
        </p:nvSpPr>
        <p:spPr>
          <a:xfrm>
            <a:off x="8119872" y="2990088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Mgmt Review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8119872" y="3392424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complete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8119872" y="403250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9966960" y="2862072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66960" y="2862072"/>
            <a:ext cx="17830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10030968" y="2990088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Supplier Mgmt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10030968" y="3392424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current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10030968" y="4032504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411480" y="4453128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4453128"/>
            <a:ext cx="1783080" cy="73152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60" name="Text 58"/>
          <p:cNvSpPr/>
          <p:nvPr/>
        </p:nvSpPr>
        <p:spPr>
          <a:xfrm>
            <a:off x="475488" y="4581144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Training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475488" y="4983480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current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5488" y="56235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2322576" y="4453128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322576" y="4453128"/>
            <a:ext cx="17830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5" name="Text 63"/>
          <p:cNvSpPr/>
          <p:nvPr/>
        </p:nvSpPr>
        <p:spPr>
          <a:xfrm>
            <a:off x="2386584" y="4581144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PM Schedule</a:t>
            </a:r>
            <a:endParaRPr lang="en-US" sz="850" dirty="0"/>
          </a:p>
        </p:txBody>
      </p:sp>
      <p:sp>
        <p:nvSpPr>
          <p:cNvPr id="66" name="Text 64"/>
          <p:cNvSpPr/>
          <p:nvPr/>
        </p:nvSpPr>
        <p:spPr>
          <a:xfrm>
            <a:off x="2386584" y="4983480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2386584" y="56235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68" name="Shape 66"/>
          <p:cNvSpPr/>
          <p:nvPr/>
        </p:nvSpPr>
        <p:spPr>
          <a:xfrm>
            <a:off x="4233672" y="4453128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233672" y="4453128"/>
            <a:ext cx="1783080" cy="7315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0" name="Text 68"/>
          <p:cNvSpPr/>
          <p:nvPr/>
        </p:nvSpPr>
        <p:spPr>
          <a:xfrm>
            <a:off x="4297680" y="4581144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Calibration</a:t>
            </a:r>
            <a:endParaRPr lang="en-US" sz="850" dirty="0"/>
          </a:p>
        </p:txBody>
      </p:sp>
      <p:sp>
        <p:nvSpPr>
          <p:cNvPr id="71" name="Text 69"/>
          <p:cNvSpPr/>
          <p:nvPr/>
        </p:nvSpPr>
        <p:spPr>
          <a:xfrm>
            <a:off x="4297680" y="4983480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devices</a:t>
            </a:r>
            <a:endParaRPr lang="en-US" sz="800" dirty="0"/>
          </a:p>
        </p:txBody>
      </p:sp>
      <p:sp>
        <p:nvSpPr>
          <p:cNvPr id="72" name="Text 70"/>
          <p:cNvSpPr/>
          <p:nvPr/>
        </p:nvSpPr>
        <p:spPr>
          <a:xfrm>
            <a:off x="4297680" y="56235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6144768" y="4453128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144768" y="4453128"/>
            <a:ext cx="1783080" cy="7315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75" name="Text 73"/>
          <p:cNvSpPr/>
          <p:nvPr/>
        </p:nvSpPr>
        <p:spPr>
          <a:xfrm>
            <a:off x="6208776" y="4581144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LPA Audits</a:t>
            </a:r>
            <a:endParaRPr lang="en-US" sz="850" dirty="0"/>
          </a:p>
        </p:txBody>
      </p:sp>
      <p:sp>
        <p:nvSpPr>
          <p:cNvPr id="76" name="Text 74"/>
          <p:cNvSpPr/>
          <p:nvPr/>
        </p:nvSpPr>
        <p:spPr>
          <a:xfrm>
            <a:off x="6208776" y="4983480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BIQS L3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208776" y="56235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78" name="Shape 76"/>
          <p:cNvSpPr/>
          <p:nvPr/>
        </p:nvSpPr>
        <p:spPr>
          <a:xfrm>
            <a:off x="8055864" y="4453128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8055864" y="4453128"/>
            <a:ext cx="178308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0" name="Text 78"/>
          <p:cNvSpPr/>
          <p:nvPr/>
        </p:nvSpPr>
        <p:spPr>
          <a:xfrm>
            <a:off x="8119872" y="4581144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Action Items</a:t>
            </a:r>
            <a:endParaRPr lang="en-US" sz="850" dirty="0"/>
          </a:p>
        </p:txBody>
      </p:sp>
      <p:sp>
        <p:nvSpPr>
          <p:cNvPr id="81" name="Text 79"/>
          <p:cNvSpPr/>
          <p:nvPr/>
        </p:nvSpPr>
        <p:spPr>
          <a:xfrm>
            <a:off x="8119872" y="4983480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due soon</a:t>
            </a:r>
            <a:endParaRPr lang="en-US" sz="800" dirty="0"/>
          </a:p>
        </p:txBody>
      </p:sp>
      <p:sp>
        <p:nvSpPr>
          <p:cNvPr id="82" name="Text 80"/>
          <p:cNvSpPr/>
          <p:nvPr/>
        </p:nvSpPr>
        <p:spPr>
          <a:xfrm>
            <a:off x="8119872" y="56235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9966960" y="4453128"/>
            <a:ext cx="1783080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9966960" y="4453128"/>
            <a:ext cx="178308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5" name="Text 83"/>
          <p:cNvSpPr/>
          <p:nvPr/>
        </p:nvSpPr>
        <p:spPr>
          <a:xfrm>
            <a:off x="10030968" y="4581144"/>
            <a:ext cx="16550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Context &amp; Risks</a:t>
            </a:r>
            <a:endParaRPr lang="en-US" sz="850" dirty="0"/>
          </a:p>
        </p:txBody>
      </p:sp>
      <p:sp>
        <p:nvSpPr>
          <p:cNvPr id="86" name="Text 84"/>
          <p:cNvSpPr/>
          <p:nvPr/>
        </p:nvSpPr>
        <p:spPr>
          <a:xfrm>
            <a:off x="10030968" y="4983480"/>
            <a:ext cx="1655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PESTLE done</a:t>
            </a:r>
            <a:endParaRPr lang="en-US" sz="800" dirty="0"/>
          </a:p>
        </p:txBody>
      </p:sp>
      <p:sp>
        <p:nvSpPr>
          <p:cNvPr id="87" name="Text 85"/>
          <p:cNvSpPr/>
          <p:nvPr/>
        </p:nvSpPr>
        <p:spPr>
          <a:xfrm>
            <a:off x="10030968" y="5623560"/>
            <a:ext cx="165506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Module →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Integrated Modules. One Platform.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you need to build, manage, and certify your Quality Management System.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01168" y="1298448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" y="13898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76656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Library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92608" y="1755648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Versioned vault with AI drafting, change control &amp; clause compliance checks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191256" y="1298448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82696" y="13898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82696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66744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 &amp; CAPA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82696" y="1755648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8D/PDCA corrective actions, root cause analysis, effectiveness tracking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81344" y="1298448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13898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72784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🔍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656832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72784" y="1755648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schedules, process/product audits, turtle diagrams, IATF §9.2.2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171432" y="1298448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262872" y="138988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262872" y="138988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46920" y="1408176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Process Audits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262872" y="1755648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L1–L5 LPA, GM BIQS/Stellantis/Ford Q1 compliant, 25-question library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201168" y="3108960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2608" y="32004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A6C19">
              <a:alpha val="18000"/>
            </a:srgbClr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2608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6C1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76656" y="3218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92608" y="3566160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PFMEA-aligned register, H/M/L 3x3 matrix, strategic &amp; operational risks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191256" y="3108960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82696" y="32004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2C55E">
              <a:alpha val="18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82696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666744" y="3218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82696" y="3566160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builder, input/output tracking, KPI dashboards, AI-generated minutes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181344" y="3108960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2784" y="32004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272784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656832" y="3218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of Organization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272784" y="3566160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PESTLE, SWOT, interested parties, strategic risk register §4.1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9171432" y="3108960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62872" y="3200400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262872" y="32004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🏭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9646920" y="3218688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Management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262872" y="3566160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Supplier List, pre-qualification, scorecards, risk-based audits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01168" y="4919472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92608" y="50109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22C55E">
              <a:alpha val="18000"/>
            </a:srgbClr>
          </a:solidFill>
          <a:ln w="635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2608" y="5010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2C55E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🎓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6656" y="5029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Awareness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292608" y="5376672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matrix, evidence file library, 10 document categories, multi-file upload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3191256" y="4919472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282696" y="50109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F59E0B">
              <a:alpha val="18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282696" y="5010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3666744" y="5029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Preventive Maintenance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282696" y="5376672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TPM/PM platform — IATF 16949, AS9100D, ISO 13485 specific fields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181344" y="4919472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272784" y="50109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A6C19">
              <a:alpha val="18000"/>
            </a:srgbClr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5010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A6C19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📏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6656832" y="5029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272784" y="5376672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register, calibration logs, labs registry, internal lab scope per IATF 16949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9171432" y="4919472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262872" y="50109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EF4444">
              <a:alpha val="18000"/>
            </a:srgbClr>
          </a:solidFill>
          <a:ln w="6350">
            <a:solidFill>
              <a:srgbClr val="EF444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262872" y="501091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F4444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✅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9646920" y="5029200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 Tracker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9262872" y="5376672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Cross-source: Mgmt Review, Risk, KPIs &amp; Audit findings — one unified view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201168" y="6729984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292608" y="68214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3B82F6">
              <a:alpha val="18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2608" y="6821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B82F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676656" y="68397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APQP &amp; PPAP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292608" y="7187184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APQP timeline, 18 PPAP elements, PSW tracking, customer approval flow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191256" y="6729984"/>
            <a:ext cx="2852928" cy="1691640"/>
          </a:xfrm>
          <a:prstGeom prst="roundRect">
            <a:avLst>
              <a:gd name="adj" fmla="val 5405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282696" y="6821424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8B5CF6">
              <a:alpha val="18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282696" y="682142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5CF6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📈</a:t>
            </a:r>
            <a:endParaRPr lang="en-US" sz="1400" dirty="0"/>
          </a:p>
        </p:txBody>
      </p:sp>
      <p:sp>
        <p:nvSpPr>
          <p:cNvPr id="75" name="Text 73"/>
          <p:cNvSpPr/>
          <p:nvPr/>
        </p:nvSpPr>
        <p:spPr>
          <a:xfrm>
            <a:off x="3666744" y="6839712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&amp; KPIs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282696" y="7187184"/>
            <a:ext cx="2670048" cy="11247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9.1 monitoring, KPI actuals vs. targets, trend visualization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30352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92608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9260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01 · DOCUMENTATION LIBRARY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640080"/>
            <a:ext cx="640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📄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87552" y="640080"/>
            <a:ext cx="402336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536192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version-controlled document vault where every quality document lives — drafted, reviewed, and approved with AI assistance from Isa.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74320" y="233172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3317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with full revision history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282549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282549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document drafting (Isa writes first drafts)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74320" y="331927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31927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 compliance checker — maps to ISO clauses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74320" y="381304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381304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 Requests with approval workflow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" y="430682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430682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Manuals, Procedures, Work Instructions, Forms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0060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Print-ready export &amp; controlled distribution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4320" y="529437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29437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status: Draft → Under Review → Approved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74320" y="578815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" y="578815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gap map — see what's missing vs. standard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577840" y="1170432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12801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📖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50992" y="171907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Manual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650992" y="199339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754112" y="1170432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54112" y="12801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7827264" y="171907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Procedures (QP)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827264" y="199339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8+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9930384" y="1170432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30384" y="128016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🔧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10003536" y="171907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Instructions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0003536" y="199339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577840" y="2496312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77840" y="26060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📝</a:t>
            </a:r>
            <a:endParaRPr lang="en-US" sz="2000" dirty="0"/>
          </a:p>
        </p:txBody>
      </p:sp>
      <p:sp>
        <p:nvSpPr>
          <p:cNvPr id="41" name="Text 39"/>
          <p:cNvSpPr/>
          <p:nvPr/>
        </p:nvSpPr>
        <p:spPr>
          <a:xfrm>
            <a:off x="5650992" y="304495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&amp; Templates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31927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754112" y="2496312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754112" y="26060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7827264" y="304495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Policy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7827264" y="331927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9930384" y="2496312"/>
            <a:ext cx="1993392" cy="1188720"/>
          </a:xfrm>
          <a:prstGeom prst="roundRect">
            <a:avLst>
              <a:gd name="adj" fmla="val 7692"/>
            </a:avLst>
          </a:prstGeom>
          <a:solidFill>
            <a:srgbClr val="0F172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930384" y="2606040"/>
            <a:ext cx="199339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0003536" y="304495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Plans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10003536" y="3319272"/>
            <a:ext cx="184708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440680" y="3913632"/>
            <a:ext cx="6492240" cy="2542032"/>
          </a:xfrm>
          <a:prstGeom prst="roundRect">
            <a:avLst>
              <a:gd name="adj" fmla="val 4317"/>
            </a:avLst>
          </a:prstGeom>
          <a:solidFill>
            <a:srgbClr val="1E293B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23560" y="4041648"/>
            <a:ext cx="6126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drafts your documents on demand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623560" y="4407408"/>
            <a:ext cx="61264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new Control of Documented Information procedure? Ask Isa. She generates a complete, clause-referenced, audit-ready draft in seconds — tailored to your organization's size, standard, and scope. Your team reviews, edits, and approves. Zero blank-page paralysis.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623560" y="580644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16 pre-built IATF 16949 sample documents included for fast-start accounts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5603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02 · NC &amp; CAPA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Nonconformance &amp; Corrective Action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the loop on every problem — fast, traceable, and permanently fixed.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82880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EF4444">
              <a:alpha val="18000"/>
            </a:srgbClr>
          </a:solidFill>
          <a:ln w="15240">
            <a:solidFill>
              <a:srgbClr val="EF444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" y="1645920"/>
            <a:ext cx="566928" cy="42062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1417320" y="1874520"/>
            <a:ext cx="82296" cy="0"/>
          </a:xfrm>
          <a:prstGeom prst="line">
            <a:avLst/>
          </a:prstGeom>
          <a:noFill/>
          <a:ln w="10160">
            <a:solidFill>
              <a:srgbClr val="EF4444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1499616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EA6C19">
              <a:alpha val="18000"/>
            </a:srgbClr>
          </a:solidFill>
          <a:ln w="15240">
            <a:solidFill>
              <a:srgbClr val="EA6C1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28800" y="1645920"/>
            <a:ext cx="566928" cy="420624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536192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34056" y="1874520"/>
            <a:ext cx="82296" cy="0"/>
          </a:xfrm>
          <a:prstGeom prst="line">
            <a:avLst/>
          </a:prstGeom>
          <a:noFill/>
          <a:ln w="10160">
            <a:solidFill>
              <a:srgbClr val="EA6C19"/>
            </a:solidFill>
            <a:prstDash val="solid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2816352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F59E0B">
              <a:alpha val="1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45536" y="1645920"/>
            <a:ext cx="566928" cy="42062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145536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852928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050792" y="1874520"/>
            <a:ext cx="82296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4133088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62272" y="1645920"/>
            <a:ext cx="566928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62272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169664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Containment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367528" y="1874520"/>
            <a:ext cx="82296" cy="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449824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8B5CF6">
              <a:alpha val="1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79008" y="1645920"/>
            <a:ext cx="566928" cy="420624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79008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0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684264" y="1874520"/>
            <a:ext cx="82296" cy="0"/>
          </a:xfrm>
          <a:prstGeom prst="line">
            <a:avLst/>
          </a:prstGeom>
          <a:noFill/>
          <a:ln w="10160">
            <a:solidFill>
              <a:srgbClr val="8B5CF6"/>
            </a:solidFill>
            <a:prstDash val="solid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6766560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22C55E">
              <a:alpha val="1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95744" y="1645920"/>
            <a:ext cx="566928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95744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03136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001000" y="1874520"/>
            <a:ext cx="82296" cy="0"/>
          </a:xfrm>
          <a:prstGeom prst="line">
            <a:avLst/>
          </a:prstGeom>
          <a:noFill/>
          <a:ln w="10160">
            <a:solidFill>
              <a:srgbClr val="22C55E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8083296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22C55E">
              <a:alpha val="1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412480" y="1645920"/>
            <a:ext cx="566928" cy="42062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412480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D6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119872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Verify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9317736" y="1874520"/>
            <a:ext cx="82296" cy="0"/>
          </a:xfrm>
          <a:prstGeom prst="line">
            <a:avLst/>
          </a:prstGeom>
          <a:noFill/>
          <a:ln w="10160">
            <a:solidFill>
              <a:srgbClr val="22C55E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9400032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3B82F6">
              <a:alpha val="1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9729216" y="1645920"/>
            <a:ext cx="566928" cy="420624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729216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D7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436608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Recurrence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10634472" y="1874520"/>
            <a:ext cx="82296" cy="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arrow"/>
          </a:ln>
        </p:spPr>
      </p:sp>
      <p:sp>
        <p:nvSpPr>
          <p:cNvPr id="49" name="Shape 47"/>
          <p:cNvSpPr/>
          <p:nvPr/>
        </p:nvSpPr>
        <p:spPr>
          <a:xfrm>
            <a:off x="10716768" y="1572768"/>
            <a:ext cx="1234440" cy="1463040"/>
          </a:xfrm>
          <a:prstGeom prst="roundRect">
            <a:avLst>
              <a:gd name="adj" fmla="val 7407"/>
            </a:avLst>
          </a:prstGeom>
          <a:solidFill>
            <a:srgbClr val="EA6C19">
              <a:alpha val="18000"/>
            </a:srgbClr>
          </a:solidFill>
          <a:ln w="15240">
            <a:solidFill>
              <a:srgbClr val="EA6C19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1045952" y="1645920"/>
            <a:ext cx="566928" cy="420624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1045952" y="1645920"/>
            <a:ext cx="566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D8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0753344" y="2121408"/>
            <a:ext cx="1161288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228600" y="3182112"/>
            <a:ext cx="3794760" cy="3310128"/>
          </a:xfrm>
          <a:prstGeom prst="roundRect">
            <a:avLst>
              <a:gd name="adj" fmla="val 2762"/>
            </a:avLst>
          </a:prstGeom>
          <a:solidFill>
            <a:srgbClr val="1E29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8600" y="3182112"/>
            <a:ext cx="3794760" cy="6400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5" name="Text 53"/>
          <p:cNvSpPr/>
          <p:nvPr/>
        </p:nvSpPr>
        <p:spPr>
          <a:xfrm>
            <a:off x="365760" y="331012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&amp; Track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365760" y="371246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Log NCs instantly from any module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24281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 to PFMEA, control plan &amp; audit finding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65760" y="477316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 complaint tracking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65760" y="53035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Supplier NC management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365760" y="583387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Twilio SMS alerts on status changes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215384" y="3182112"/>
            <a:ext cx="3794760" cy="3310128"/>
          </a:xfrm>
          <a:prstGeom prst="roundRect">
            <a:avLst>
              <a:gd name="adj" fmla="val 2762"/>
            </a:avLst>
          </a:prstGeom>
          <a:solidFill>
            <a:srgbClr val="1E29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215384" y="3182112"/>
            <a:ext cx="3794760" cy="64008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63" name="Text 61"/>
          <p:cNvSpPr/>
          <p:nvPr/>
        </p:nvSpPr>
        <p:spPr>
          <a:xfrm>
            <a:off x="4352544" y="331012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4352544" y="371246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AI-suggested root causes from Isa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4352544" y="424281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5-Why structured analysis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4352544" y="477316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Fishbone/Ishikawa diagram support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352544" y="53035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Systemic pattern detection across NCs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352544" y="583387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PDCA cycle integration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8202168" y="3182112"/>
            <a:ext cx="3794760" cy="3310128"/>
          </a:xfrm>
          <a:prstGeom prst="roundRect">
            <a:avLst>
              <a:gd name="adj" fmla="val 2762"/>
            </a:avLst>
          </a:prstGeom>
          <a:solidFill>
            <a:srgbClr val="1E29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202168" y="3182112"/>
            <a:ext cx="3794760" cy="64008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1" name="Text 69"/>
          <p:cNvSpPr/>
          <p:nvPr/>
        </p:nvSpPr>
        <p:spPr>
          <a:xfrm>
            <a:off x="8339328" y="3310128"/>
            <a:ext cx="35204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&amp; Close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339328" y="371246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Effectiveness verification workflow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8339328" y="424281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Recurrence prevention — PFMEA/CP update</a:t>
            </a:r>
            <a:endParaRPr lang="en-US" sz="1000" dirty="0"/>
          </a:p>
        </p:txBody>
      </p:sp>
      <p:sp>
        <p:nvSpPr>
          <p:cNvPr id="74" name="Text 72"/>
          <p:cNvSpPr/>
          <p:nvPr/>
        </p:nvSpPr>
        <p:spPr>
          <a:xfrm>
            <a:off x="8339328" y="477316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Lessons learned capture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8339328" y="53035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 8D submission package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8339328" y="583387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audit trail for external auditors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256032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56032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03 · INTERNAL AUDIT PROGRAM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74320" y="566928"/>
            <a:ext cx="1161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Audit Program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1170432"/>
            <a:ext cx="1161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scheduling, process-approach methodology, full IATF 16949 compliance — all built in.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1572768"/>
            <a:ext cx="3794760" cy="2212848"/>
          </a:xfrm>
          <a:prstGeom prst="roundRect">
            <a:avLst>
              <a:gd name="adj" fmla="val 4959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8600" y="1645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777240" y="2267712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Audit  §9.2.2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606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QMS clause-structure audits covering all processes and their interactions. Scheduled annually or risk-triggered. Isa generates the checklist from your scope.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15384" y="1572768"/>
            <a:ext cx="3794760" cy="2212848"/>
          </a:xfrm>
          <a:prstGeom prst="roundRect">
            <a:avLst>
              <a:gd name="adj" fmla="val 4959"/>
            </a:avLst>
          </a:prstGeom>
          <a:solidFill>
            <a:srgbClr val="1E293B"/>
          </a:solidFill>
          <a:ln w="19050">
            <a:solidFill>
              <a:srgbClr val="EA6C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15384" y="1645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⚙️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4764024" y="2267712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64024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Manufacturing Process Audit  §9.2.2.4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52544" y="2606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audits with full turtle diagram capture — Inputs, Outputs, Resources, Personnel, Methods, Measurements, Environment. IATF specific.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202168" y="1572768"/>
            <a:ext cx="3794760" cy="2212848"/>
          </a:xfrm>
          <a:prstGeom prst="roundRect">
            <a:avLst>
              <a:gd name="adj" fmla="val 4959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02168" y="1645920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8750808" y="2267712"/>
            <a:ext cx="2697480" cy="274320"/>
          </a:xfrm>
          <a:prstGeom prst="roundRect">
            <a:avLst>
              <a:gd name="adj" fmla="val 26667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750808" y="2267712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Audit  §9.2.2.3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339328" y="2606040"/>
            <a:ext cx="3520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 conformance audits against acceptance criteria. Structured checklists, photographic evidence, and automatic NC linkage.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" y="3931920"/>
            <a:ext cx="5669280" cy="1207008"/>
          </a:xfrm>
          <a:prstGeom prst="roundRect">
            <a:avLst>
              <a:gd name="adj" fmla="val 7576"/>
            </a:avLst>
          </a:prstGeom>
          <a:solidFill>
            <a:srgbClr val="1E293B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🗓️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60120" y="404164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Scheduling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60120" y="43434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processes are audited more often. Frequency calculated from NC history, customer concerns, and complexity.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26480" y="3931920"/>
            <a:ext cx="5669280" cy="1207008"/>
          </a:xfrm>
          <a:prstGeom prst="roundRect">
            <a:avLst>
              <a:gd name="adj" fmla="val 7576"/>
            </a:avLst>
          </a:prstGeom>
          <a:solidFill>
            <a:srgbClr val="1E293B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6208" y="40965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🐢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6858000" y="404164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 Diagram Support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858000" y="434340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turtle diagram data capture per process audit — standard method, machine, material, man, measurement, environment, output.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" y="5257800"/>
            <a:ext cx="5669280" cy="1207008"/>
          </a:xfrm>
          <a:prstGeom prst="roundRect">
            <a:avLst>
              <a:gd name="adj" fmla="val 7576"/>
            </a:avLst>
          </a:prstGeom>
          <a:solidFill>
            <a:srgbClr val="1E293B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8328" y="5422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🔗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960120" y="53675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 to NC &amp; CAPA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60120" y="56692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finding auto-creates a linked nonconformance with 8D corrective action workflow. Nothing falls through.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126480" y="5257800"/>
            <a:ext cx="5669280" cy="1207008"/>
          </a:xfrm>
          <a:prstGeom prst="roundRect">
            <a:avLst>
              <a:gd name="adj" fmla="val 7576"/>
            </a:avLst>
          </a:prstGeom>
          <a:solidFill>
            <a:srgbClr val="1E293B"/>
          </a:solidFill>
          <a:ln w="762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36208" y="54223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6858000" y="5367528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Checklists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0" y="5669280"/>
            <a:ext cx="4800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25+ default questions in 9 audit categories. Fully customizable. Conduct audits from any device on the shop floor.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12064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04 · LAYERED PROCESS AUDITS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62179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⚡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87552" y="621792"/>
            <a:ext cx="38404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Process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(LPA)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LPA system built specifically for automotive suppliers complying with GM BIQS, Stellantis, and Ford Q1 requirements.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2304288"/>
            <a:ext cx="4572000" cy="603504"/>
          </a:xfrm>
          <a:prstGeom prst="roundRect">
            <a:avLst>
              <a:gd name="adj" fmla="val 10606"/>
            </a:avLst>
          </a:prstGeom>
          <a:solidFill>
            <a:srgbClr val="22C55E">
              <a:alpha val="2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386584"/>
            <a:ext cx="438912" cy="43891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38658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45973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 ·  Daily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9232"/>
            <a:ext cx="4206240" cy="603504"/>
          </a:xfrm>
          <a:prstGeom prst="roundRect">
            <a:avLst>
              <a:gd name="adj" fmla="val 10606"/>
            </a:avLst>
          </a:prstGeom>
          <a:solidFill>
            <a:srgbClr val="3B82F6">
              <a:alpha val="2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0352" y="3081528"/>
            <a:ext cx="438912" cy="438912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0815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51560" y="31546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Supervisors  ·  Weekly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40080" y="3694176"/>
            <a:ext cx="3840480" cy="603504"/>
          </a:xfrm>
          <a:prstGeom prst="roundRect">
            <a:avLst>
              <a:gd name="adj" fmla="val 10606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3232" y="3776472"/>
            <a:ext cx="438912" cy="43891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3232" y="377647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234440" y="3849624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Engineers  ·  Weekly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22960" y="4389120"/>
            <a:ext cx="3474720" cy="603504"/>
          </a:xfrm>
          <a:prstGeom prst="roundRect">
            <a:avLst>
              <a:gd name="adj" fmla="val 10606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6112" y="4471416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96112" y="447141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417320" y="4544568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  ·  Monthly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05840" y="5084064"/>
            <a:ext cx="3108960" cy="603504"/>
          </a:xfrm>
          <a:prstGeom prst="roundRect">
            <a:avLst>
              <a:gd name="adj" fmla="val 10606"/>
            </a:avLst>
          </a:prstGeom>
          <a:solidFill>
            <a:srgbClr val="EA6C19">
              <a:alpha val="28000"/>
            </a:srgbClr>
          </a:solidFill>
          <a:ln w="15240">
            <a:solidFill>
              <a:srgbClr val="EA6C1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78992" y="5166360"/>
            <a:ext cx="438912" cy="438912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78992" y="516636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600200" y="5239512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 ·  Monthly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74320" y="5870448"/>
            <a:ext cx="2359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25-question default library in 9 categories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2761488" y="5870448"/>
            <a:ext cx="2359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Configurable audit plans per layer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74320" y="6199632"/>
            <a:ext cx="2359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Mobile-friendly conduct-audit dialog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2761488" y="6199632"/>
            <a:ext cx="2359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audit records history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74320" y="6528816"/>
            <a:ext cx="2359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Pass/fail compliance dashboard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61488" y="6528816"/>
            <a:ext cx="2359152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 CSR requirement tracking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349240" y="777240"/>
            <a:ext cx="6537960" cy="1719072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49240" y="777240"/>
            <a:ext cx="2011680" cy="1719072"/>
          </a:xfrm>
          <a:prstGeom prst="roundRect">
            <a:avLst>
              <a:gd name="adj" fmla="val 6383"/>
            </a:avLst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349240" y="777240"/>
            <a:ext cx="20116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 BIQS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498080" y="1024128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Quality Excellence — BIQS Levels 1–5 with compliant audit scoring and documentation.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349240" y="2679192"/>
            <a:ext cx="6537960" cy="1719072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22860">
            <a:solidFill>
              <a:srgbClr val="EF444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49240" y="2679192"/>
            <a:ext cx="2011680" cy="1719072"/>
          </a:xfrm>
          <a:prstGeom prst="roundRect">
            <a:avLst>
              <a:gd name="adj" fmla="val 6383"/>
            </a:avLst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349240" y="2679192"/>
            <a:ext cx="20116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Stellantis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98080" y="2926080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Customer-Specific Requirements for FCA/Stellantis process audit standards.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349240" y="4581144"/>
            <a:ext cx="6537960" cy="1719072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22860">
            <a:solidFill>
              <a:srgbClr val="3B82F6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49240" y="4581144"/>
            <a:ext cx="2011680" cy="1719072"/>
          </a:xfrm>
          <a:prstGeom prst="roundRect">
            <a:avLst>
              <a:gd name="adj" fmla="val 6383"/>
            </a:avLst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49240" y="4581144"/>
            <a:ext cx="201168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Q1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7498080" y="4828032"/>
            <a:ext cx="4251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Production Approval Process and ongoing process audit compliance.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349240" y="6400800"/>
            <a:ext cx="6537960" cy="329184"/>
          </a:xfrm>
          <a:prstGeom prst="roundRect">
            <a:avLst>
              <a:gd name="adj" fmla="val 22222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440680" y="6400800"/>
            <a:ext cx="6355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LPA is the #1 tool for sustaining certification between external audits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98932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A6C19">
              <a:alpha val="18000"/>
            </a:srgbClr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05 · RISK ASSESSMENT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5394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&amp;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05840" y="1536192"/>
            <a:ext cx="30175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Likelihood →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 rot="16200000">
            <a:off x="109728" y="1828800"/>
            <a:ext cx="5486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Impact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005840" y="1737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274320" y="37673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11680" y="1737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74320" y="28529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017520" y="173736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74320" y="1938528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005840" y="37673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7673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L/L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011680" y="37673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11680" y="37673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M/L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017520" y="37673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17520" y="37673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5840" y="28529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2852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011680" y="28529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011680" y="2852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17520" y="28529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17520" y="28529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005840" y="19385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" y="19385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L/H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011680" y="19385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9385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017520" y="1938528"/>
            <a:ext cx="914400" cy="822960"/>
          </a:xfrm>
          <a:prstGeom prst="roundRect">
            <a:avLst>
              <a:gd name="adj" fmla="val 6667"/>
            </a:avLst>
          </a:prstGeom>
          <a:solidFill>
            <a:srgbClr val="EF4444">
              <a:alpha val="2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17520" y="1938528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H/H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74320" y="4864608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PESTLE &amp; SWOT analysis with export buttons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521208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Strategic Risk Register §4.1 (separate from §6.1)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5559552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Risk-based scheduling feeds Internal Audit module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274320" y="5907024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Isa suggests risk treatments &amp; controls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" y="6254496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Link risks to processes, objectives &amp; KPIs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89320" y="54864"/>
            <a:ext cx="45720" cy="674827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1" name="Shape 39"/>
          <p:cNvSpPr/>
          <p:nvPr/>
        </p:nvSpPr>
        <p:spPr>
          <a:xfrm>
            <a:off x="617220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17220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06 · MANAGEMENT REVIEW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72200" y="594360"/>
            <a:ext cx="5669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6172200" y="148132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(§9.3.2)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172200" y="181051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 feedback &amp; satisfaction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172200" y="21488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Quality objectives vs. targets (KPIs)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172200" y="248716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Process performance &amp; conformity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6172200" y="2825496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NC &amp; CAPA status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6172200" y="3163824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Audit results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6172200" y="3502152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 &amp; opportunity status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6172200" y="384048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Resource adequacy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6172200" y="4178808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Improvement opportunities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9006840" y="1481328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(§9.3.3)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9006840" y="1810512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Improvement decisions &amp; actions</a:t>
            </a:r>
            <a:endParaRPr lang="en-US" sz="850" dirty="0"/>
          </a:p>
        </p:txBody>
      </p:sp>
      <p:sp>
        <p:nvSpPr>
          <p:cNvPr id="55" name="Text 53"/>
          <p:cNvSpPr/>
          <p:nvPr/>
        </p:nvSpPr>
        <p:spPr>
          <a:xfrm>
            <a:off x="9006840" y="2148840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Resource allocation changes</a:t>
            </a:r>
            <a:endParaRPr lang="en-US" sz="850" dirty="0"/>
          </a:p>
        </p:txBody>
      </p:sp>
      <p:sp>
        <p:nvSpPr>
          <p:cNvPr id="56" name="Text 54"/>
          <p:cNvSpPr/>
          <p:nvPr/>
        </p:nvSpPr>
        <p:spPr>
          <a:xfrm>
            <a:off x="9006840" y="2487168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QMS changes needed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006840" y="2825496"/>
            <a:ext cx="3154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Strategic direction updates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6172200" y="4617720"/>
            <a:ext cx="5742432" cy="1901952"/>
          </a:xfrm>
          <a:prstGeom prst="roundRect">
            <a:avLst>
              <a:gd name="adj" fmla="val 5769"/>
            </a:avLst>
          </a:prstGeom>
          <a:solidFill>
            <a:srgbClr val="22C55E">
              <a:alpha val="1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4736592"/>
            <a:ext cx="5440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prepares your Management Review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309360" y="5102352"/>
            <a:ext cx="5440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auto-generates meeting minutes, pre-fills agenda items from your live KPI and NC data, and flags any clause gaps before the meeting starts. Action items flow automatically into the Action Item Tracker.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98932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07 · SUPPLIER MANAGEMENT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 Supplier Management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approved supplier lifecycle — from qualification to performance monitoring.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691640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" y="1764792"/>
            <a:ext cx="475488" cy="47548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" y="17647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32688" y="1792224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Pre-Qualification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32688" y="2066544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Financial, quality &amp; regulatory vetting before approval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2624328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7472" y="2697480"/>
            <a:ext cx="475488" cy="47548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" y="269748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32688" y="2724912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ASL Approval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2688" y="2999232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Supplier List with classification &amp; risk tier assignment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3557016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" y="3630168"/>
            <a:ext cx="475488" cy="47548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" y="363016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2688" y="3657600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Scorecard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932688" y="3931920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PPM, delivery %, responsiveness ratings — auto-calculated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4489704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4562856"/>
            <a:ext cx="475488" cy="475488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45628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32688" y="4590288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Audit Schedule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32688" y="4864608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audits auto-scheduled based on risk tier &amp; performance history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74320" y="5422392"/>
            <a:ext cx="5577840" cy="822960"/>
          </a:xfrm>
          <a:prstGeom prst="roundRect">
            <a:avLst>
              <a:gd name="adj" fmla="val 11111"/>
            </a:avLst>
          </a:prstGeom>
          <a:solidFill>
            <a:srgbClr val="0F172A"/>
          </a:solidFill>
          <a:ln w="10160">
            <a:solidFill>
              <a:srgbClr val="EF444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47472" y="5495544"/>
            <a:ext cx="475488" cy="47548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7472" y="54955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32688" y="5522976"/>
            <a:ext cx="4800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§8.4.2.4 Monitoring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32688" y="5797296"/>
            <a:ext cx="4800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IATF-required statistical supplier performance tracking &amp; reporting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989320" y="54864"/>
            <a:ext cx="45720" cy="674827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36" name="Shape 34"/>
          <p:cNvSpPr/>
          <p:nvPr/>
        </p:nvSpPr>
        <p:spPr>
          <a:xfrm>
            <a:off x="617220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22C55E">
              <a:alpha val="1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7220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08 · TRAINING &amp; AWARENESS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6172200" y="59436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Training &amp; Awareness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172200" y="11338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management with evidence files — built for Clause 7.2 &amp; IATF auditors.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172200" y="1719072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178308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6263640" y="22128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Matrix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263640" y="250545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skills to roles. See gaps. Track all employees at a glance.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9025128" y="1719072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025128" y="1783080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📎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9116568" y="2212848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 Library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9116568" y="2505456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upload: certificates, sign-off sheets, WIs, SOPs, photos.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172200" y="3291840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3355848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📂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6263640" y="378561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Document Categories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263640" y="407822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Certificate, Sign-Off, WI, SOP, Inspection, Cal Proc, Test, Photo, Other.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9025128" y="3291840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025128" y="3355848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9116568" y="3785616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Doc Fields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116568" y="4078224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WI/SOP/Inspection records include Doc Number, Revision, Operation Name.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172200" y="4864608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72200" y="4928616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263640" y="535838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Event Records</a:t>
            </a:r>
            <a:endParaRPr lang="en-US" sz="950" dirty="0"/>
          </a:p>
        </p:txBody>
      </p:sp>
      <p:sp>
        <p:nvSpPr>
          <p:cNvPr id="59" name="Text 57"/>
          <p:cNvSpPr/>
          <p:nvPr/>
        </p:nvSpPr>
        <p:spPr>
          <a:xfrm>
            <a:off x="6263640" y="565099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events, attendance, completion dates &amp; effectiveness reviews.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9025128" y="4864608"/>
            <a:ext cx="2724912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889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025128" y="4928616"/>
            <a:ext cx="272491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🔔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9116568" y="5358384"/>
            <a:ext cx="25420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 Alerts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9116568" y="5650992"/>
            <a:ext cx="254203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miss a certification expiry. 30/14/7-day advance alerts.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6172200" y="6400800"/>
            <a:ext cx="5742432" cy="320040"/>
          </a:xfrm>
          <a:prstGeom prst="roundRect">
            <a:avLst>
              <a:gd name="adj" fmla="val 22857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263640" y="64008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is RLS-isolated per tenant. Designed for future video module integration.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98932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A6C19">
              <a:alpha val="18000"/>
            </a:srgbClr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09 · CALIBRATION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📏  Calibration Module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 Clause 7.1.5 compliant measurement system management.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2688336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36776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066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Register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23591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measuring devices — ID, description, location, frequency, tolerance, next calibration date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090672" y="1572768"/>
            <a:ext cx="2688336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1636776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📅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182112" y="2066544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Log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182112" y="2359152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records with as-found/as-left data, technician ID, and certificate upload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145536"/>
            <a:ext cx="2688336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209544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🏢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65760" y="36393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Registry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39319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approved external calibration labs — accreditation, scope, expiry date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090672" y="3145536"/>
            <a:ext cx="2688336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90672" y="3209544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🔬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182112" y="3639312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Lab Scope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3182112" y="3931920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§7.1.5.3.2 compliant internal lab scope documentation for audit evidence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274320" y="4718304"/>
            <a:ext cx="2688336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4782312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⚠️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365760" y="52120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 Alerts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5504688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let a device go out of calibration. 30/14/7-day advance notifications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090672" y="4718304"/>
            <a:ext cx="2688336" cy="1463040"/>
          </a:xfrm>
          <a:prstGeom prst="roundRect">
            <a:avLst>
              <a:gd name="adj" fmla="val 6250"/>
            </a:avLst>
          </a:prstGeom>
          <a:solidFill>
            <a:srgbClr val="0F172A"/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90672" y="4782312"/>
            <a:ext cx="268833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3182112" y="5212080"/>
            <a:ext cx="25054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MSA Tracking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182112" y="5504688"/>
            <a:ext cx="250545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System Analysis results linked to control plan special characteristics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989320" y="54864"/>
            <a:ext cx="45720" cy="674827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35" name="Shape 33"/>
          <p:cNvSpPr/>
          <p:nvPr/>
        </p:nvSpPr>
        <p:spPr>
          <a:xfrm>
            <a:off x="617220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F59E0B">
              <a:alpha val="1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10 · PREVENTIVE MAINTENANCE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6172200" y="59436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Preventive Maintenance</a:t>
            </a:r>
            <a:endParaRPr lang="en-US" sz="2000" dirty="0"/>
          </a:p>
        </p:txBody>
      </p:sp>
      <p:sp>
        <p:nvSpPr>
          <p:cNvPr id="38" name="Text 36"/>
          <p:cNvSpPr/>
          <p:nvPr/>
        </p:nvSpPr>
        <p:spPr>
          <a:xfrm>
            <a:off x="6172200" y="1133856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TPM/PM platform for equipment reliability across multiple ISO standards.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172200" y="1627632"/>
            <a:ext cx="5742432" cy="1115568"/>
          </a:xfrm>
          <a:prstGeom prst="roundRect">
            <a:avLst>
              <a:gd name="adj" fmla="val 8197"/>
            </a:avLst>
          </a:prstGeom>
          <a:solidFill>
            <a:srgbClr val="0F172A"/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72200" y="1627632"/>
            <a:ext cx="1691640" cy="1115568"/>
          </a:xfrm>
          <a:prstGeom prst="roundRect">
            <a:avLst>
              <a:gd name="adj" fmla="val 8197"/>
            </a:avLst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72200" y="1627632"/>
            <a:ext cx="1691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973568" y="1847088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OEE tracking, tool life management, PPAP change implications, predictive maintenance scheduling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172200" y="2862072"/>
            <a:ext cx="5742432" cy="1115568"/>
          </a:xfrm>
          <a:prstGeom prst="roundRect">
            <a:avLst>
              <a:gd name="adj" fmla="val 8197"/>
            </a:avLst>
          </a:prstGeom>
          <a:solidFill>
            <a:srgbClr val="0F172A"/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72200" y="2862072"/>
            <a:ext cx="1691640" cy="1115568"/>
          </a:xfrm>
          <a:prstGeom prst="roundRect">
            <a:avLst>
              <a:gd name="adj" fmla="val 8197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72200" y="2862072"/>
            <a:ext cx="1691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AS9100D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973568" y="3081528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Aerospace-specific maintenance fields, FOD prevention records, airworthiness maintenance compliance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172200" y="4096512"/>
            <a:ext cx="5742432" cy="1115568"/>
          </a:xfrm>
          <a:prstGeom prst="roundRect">
            <a:avLst>
              <a:gd name="adj" fmla="val 8197"/>
            </a:avLst>
          </a:prstGeom>
          <a:solidFill>
            <a:srgbClr val="0F172A"/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72200" y="4096512"/>
            <a:ext cx="1691640" cy="1115568"/>
          </a:xfrm>
          <a:prstGeom prst="roundRect">
            <a:avLst>
              <a:gd name="adj" fmla="val 8197"/>
            </a:avLst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172200" y="4096512"/>
            <a:ext cx="1691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973568" y="4315968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device equipment validation records, cleaning &amp; sterilization documentation, IQ/OQ/PQ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72200" y="5330952"/>
            <a:ext cx="5742432" cy="1115568"/>
          </a:xfrm>
          <a:prstGeom prst="roundRect">
            <a:avLst>
              <a:gd name="adj" fmla="val 8197"/>
            </a:avLst>
          </a:prstGeom>
          <a:solidFill>
            <a:srgbClr val="0F172A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72200" y="5330952"/>
            <a:ext cx="1691640" cy="1115568"/>
          </a:xfrm>
          <a:prstGeom prst="roundRect">
            <a:avLst>
              <a:gd name="adj" fmla="val 8197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5330952"/>
            <a:ext cx="169164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973568" y="5550408"/>
            <a:ext cx="38221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equipment register, service history, technician competency records, next service alerts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6172200" y="6400800"/>
            <a:ext cx="5742432" cy="320040"/>
          </a:xfrm>
          <a:prstGeom prst="roundRect">
            <a:avLst>
              <a:gd name="adj" fmla="val 22857"/>
            </a:avLst>
          </a:prstGeom>
          <a:solidFill>
            <a:srgbClr val="F59E0B">
              <a:alpha val="28000"/>
            </a:srgbClr>
          </a:solidFill>
          <a:ln w="1016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263640" y="6400800"/>
            <a:ext cx="5577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drill-in views with full service history, part lists &amp; technician competency records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Standards. One Platform.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automotive to aerospace to environmental — ISO Manager is built to run them all simultaneously.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1261872"/>
            <a:ext cx="2249424" cy="5285232"/>
          </a:xfrm>
          <a:prstGeom prst="roundRect">
            <a:avLst>
              <a:gd name="adj" fmla="val 5691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61872"/>
            <a:ext cx="2249424" cy="1170432"/>
          </a:xfrm>
          <a:prstGeom prst="roundRect">
            <a:avLst>
              <a:gd name="adj" fmla="val 10938"/>
            </a:avLst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" y="133502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🚗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56032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16949:2016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56032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Automotive Quality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74320" y="248716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Customer-Specific Requirements (GM/Ford/Stellantis)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74320" y="2999232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APQP, PPAP, PFMEA, Control Plan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74320" y="3511296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Layered Process Audits (L1–L5)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74320" y="4023360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Warranty management §8.7.1.1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" y="4535424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Manufacturing process audits §9.2.2.4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74320" y="504748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No-design-responsibility scoping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560320" y="1261872"/>
            <a:ext cx="2249424" cy="5285232"/>
          </a:xfrm>
          <a:prstGeom prst="roundRect">
            <a:avLst>
              <a:gd name="adj" fmla="val 5691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0320" y="1261872"/>
            <a:ext cx="2249424" cy="1170432"/>
          </a:xfrm>
          <a:prstGeom prst="roundRect">
            <a:avLst>
              <a:gd name="adj" fmla="val 10938"/>
            </a:avLst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133502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📋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633472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9001:2015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633472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51760" y="248716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clause 4–10 QMS coverage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2651760" y="2999232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Context of the organization §4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651760" y="3511296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Risk-based thinking throughout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651760" y="4023360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Management review framework §9.3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2651760" y="4535424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Documented information control §7.5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651760" y="504748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Monitoring &amp; measurement §9.1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937760" y="1261872"/>
            <a:ext cx="2249424" cy="5285232"/>
          </a:xfrm>
          <a:prstGeom prst="roundRect">
            <a:avLst>
              <a:gd name="adj" fmla="val 5691"/>
            </a:avLst>
          </a:prstGeom>
          <a:solidFill>
            <a:srgbClr val="1E293B"/>
          </a:solidFill>
          <a:ln w="25400">
            <a:solidFill>
              <a:srgbClr val="15803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37760" y="1261872"/>
            <a:ext cx="2249424" cy="1170432"/>
          </a:xfrm>
          <a:prstGeom prst="roundRect">
            <a:avLst>
              <a:gd name="adj" fmla="val 10938"/>
            </a:avLst>
          </a:prstGeom>
          <a:solidFill>
            <a:srgbClr val="15803D">
              <a:alpha val="28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133502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🌍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5010912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14001:2015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010912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Mgmt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029200" y="248716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Environmental aspects &amp; impacts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5029200" y="2999232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Compliance obligations register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5029200" y="3511296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Environmental objectives &amp; KPIs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029200" y="4023360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Emergency preparedness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5029200" y="4535424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Life cycle perspective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029200" y="504748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Legal register management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315200" y="1261872"/>
            <a:ext cx="2249424" cy="5285232"/>
          </a:xfrm>
          <a:prstGeom prst="roundRect">
            <a:avLst>
              <a:gd name="adj" fmla="val 5691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15200" y="1261872"/>
            <a:ext cx="2249424" cy="1170432"/>
          </a:xfrm>
          <a:prstGeom prst="roundRect">
            <a:avLst>
              <a:gd name="adj" fmla="val 10938"/>
            </a:avLst>
          </a:prstGeom>
          <a:solidFill>
            <a:srgbClr val="F59E0B">
              <a:alpha val="28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133502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🦺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388352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45001:2018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7388352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OH&amp;S Management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406640" y="248716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Hazard identification &amp; risk assessment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7406640" y="2999232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Worker participation &amp; consultation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7406640" y="3511296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OH&amp;S objectives tracking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7406640" y="4023360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Incident investigation workflow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7406640" y="4535424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Legal &amp; regulatory compliance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406640" y="504748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Contractor management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9692640" y="1261872"/>
            <a:ext cx="2249424" cy="5285232"/>
          </a:xfrm>
          <a:prstGeom prst="roundRect">
            <a:avLst>
              <a:gd name="adj" fmla="val 5691"/>
            </a:avLst>
          </a:prstGeom>
          <a:solidFill>
            <a:srgbClr val="1E293B"/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692640" y="1261872"/>
            <a:ext cx="2249424" cy="1170432"/>
          </a:xfrm>
          <a:prstGeom prst="roundRect">
            <a:avLst>
              <a:gd name="adj" fmla="val 10938"/>
            </a:avLst>
          </a:prstGeom>
          <a:solidFill>
            <a:srgbClr val="8B5CF6">
              <a:alpha val="28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92640" y="1335024"/>
            <a:ext cx="22494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✈️</a:t>
            </a:r>
            <a:endParaRPr lang="en-US" sz="2400" dirty="0"/>
          </a:p>
        </p:txBody>
      </p:sp>
      <p:sp>
        <p:nvSpPr>
          <p:cNvPr id="54" name="Text 52"/>
          <p:cNvSpPr/>
          <p:nvPr/>
        </p:nvSpPr>
        <p:spPr>
          <a:xfrm>
            <a:off x="9765792" y="182880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AS9100D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9765792" y="21945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Quality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9784080" y="248716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Configuration management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9784080" y="2999232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First Article Inspection (FAI)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9784080" y="3511296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FOD prevention programs</a:t>
            </a:r>
            <a:endParaRPr lang="en-US" sz="850" dirty="0"/>
          </a:p>
        </p:txBody>
      </p:sp>
      <p:sp>
        <p:nvSpPr>
          <p:cNvPr id="59" name="Text 57"/>
          <p:cNvSpPr/>
          <p:nvPr/>
        </p:nvSpPr>
        <p:spPr>
          <a:xfrm>
            <a:off x="9784080" y="4023360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Counterfeit parts awareness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9784080" y="4535424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Key characteristics management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9784080" y="5047488"/>
            <a:ext cx="20665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Project management integration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0" y="64465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module is standards-aware — clause references, audit criteria, and CSR requirements built in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98932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F4444">
              <a:alpha val="18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 · ACTION ITEM TRACKER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5394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Action Item Tracker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" y="1133856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from every source — in one place. Nothing falls through the cracks.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" y="1572768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feeding the tracker: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883664"/>
            <a:ext cx="5394960" cy="402336"/>
          </a:xfrm>
          <a:prstGeom prst="roundRect">
            <a:avLst>
              <a:gd name="adj" fmla="val 27273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883664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Management Review Outputs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5394960" cy="402336"/>
          </a:xfrm>
          <a:prstGeom prst="roundRect">
            <a:avLst>
              <a:gd name="adj" fmla="val 27273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3774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Risk Assessment Actions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2871216"/>
            <a:ext cx="5394960" cy="402336"/>
          </a:xfrm>
          <a:prstGeom prst="roundRect">
            <a:avLst>
              <a:gd name="adj" fmla="val 27273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871216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Internal Audit Findings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3364992"/>
            <a:ext cx="5394960" cy="402336"/>
          </a:xfrm>
          <a:prstGeom prst="roundRect">
            <a:avLst>
              <a:gd name="adj" fmla="val 27273"/>
            </a:avLst>
          </a:prstGeom>
          <a:solidFill>
            <a:srgbClr val="8B5CF6">
              <a:alpha val="18000"/>
            </a:srgbClr>
          </a:solidFill>
          <a:ln w="1016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364992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KPI Gap Actions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74320" y="4005072"/>
            <a:ext cx="5577840" cy="2487168"/>
          </a:xfrm>
          <a:prstGeom prst="roundRect">
            <a:avLst>
              <a:gd name="adj" fmla="val 3676"/>
            </a:avLst>
          </a:prstGeom>
          <a:solidFill>
            <a:srgbClr val="0F172A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4078224"/>
            <a:ext cx="114300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4078224"/>
            <a:ext cx="1143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490472" y="4078224"/>
            <a:ext cx="77724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3" name="Text 21"/>
          <p:cNvSpPr/>
          <p:nvPr/>
        </p:nvSpPr>
        <p:spPr>
          <a:xfrm>
            <a:off x="1490472" y="407822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2267712" y="4078224"/>
            <a:ext cx="896112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2267712" y="4078224"/>
            <a:ext cx="8961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163824" y="4078224"/>
            <a:ext cx="100584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3163824" y="407822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Assignee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169664" y="4078224"/>
            <a:ext cx="841248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29" name="Text 27"/>
          <p:cNvSpPr/>
          <p:nvPr/>
        </p:nvSpPr>
        <p:spPr>
          <a:xfrm>
            <a:off x="4169664" y="4078224"/>
            <a:ext cx="841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Date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47472" y="4407408"/>
            <a:ext cx="5468112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384048" y="4425696"/>
            <a:ext cx="1106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Review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527048" y="4425696"/>
            <a:ext cx="740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304288" y="4425696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3200400" y="4425696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Mgr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206240" y="442569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15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347472" y="4864608"/>
            <a:ext cx="5468112" cy="420624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7" name="Text 35"/>
          <p:cNvSpPr/>
          <p:nvPr/>
        </p:nvSpPr>
        <p:spPr>
          <a:xfrm>
            <a:off x="384048" y="4882896"/>
            <a:ext cx="1106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Finding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527048" y="4882896"/>
            <a:ext cx="740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304288" y="4882896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200400" y="4882896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Eng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206240" y="488289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 30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47472" y="5321808"/>
            <a:ext cx="5468112" cy="420624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3" name="Text 41"/>
          <p:cNvSpPr/>
          <p:nvPr/>
        </p:nvSpPr>
        <p:spPr>
          <a:xfrm>
            <a:off x="384048" y="5340096"/>
            <a:ext cx="1106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527048" y="5340096"/>
            <a:ext cx="740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2304288" y="5340096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3200400" y="5340096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EHS Lead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4206240" y="534009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31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47472" y="5779008"/>
            <a:ext cx="5468112" cy="42062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384048" y="5797296"/>
            <a:ext cx="11064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Action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1527048" y="5797296"/>
            <a:ext cx="7406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2304288" y="5797296"/>
            <a:ext cx="859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OVERDUE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3200400" y="5797296"/>
            <a:ext cx="96926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 Director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206240" y="5797296"/>
            <a:ext cx="8046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1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989320" y="54864"/>
            <a:ext cx="45720" cy="6748272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5" name="Shape 53"/>
          <p:cNvSpPr/>
          <p:nvPr/>
        </p:nvSpPr>
        <p:spPr>
          <a:xfrm>
            <a:off x="617220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3B82F6">
              <a:alpha val="1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17220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12 · APQP &amp; PPAP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172200" y="594360"/>
            <a:ext cx="5669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APQP &amp; PPAP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6172200" y="1133856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5-phase APQP timeline with all 18 PPAP elements, PSW tracking, and customer approval flow.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172200" y="1664208"/>
            <a:ext cx="1060704" cy="1115568"/>
          </a:xfrm>
          <a:prstGeom prst="roundRect">
            <a:avLst>
              <a:gd name="adj" fmla="val 6897"/>
            </a:avLst>
          </a:prstGeom>
          <a:solidFill>
            <a:srgbClr val="3B82F6">
              <a:alpha val="28000"/>
            </a:srgbClr>
          </a:solidFill>
          <a:ln w="15240">
            <a:solidFill>
              <a:srgbClr val="3B82F6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483096" y="1737360"/>
            <a:ext cx="457200" cy="384048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83096" y="1737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217920" y="2157984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&amp; Define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7232904" y="2862072"/>
            <a:ext cx="54864" cy="0"/>
          </a:xfrm>
          <a:prstGeom prst="line">
            <a:avLst/>
          </a:prstGeom>
          <a:noFill/>
          <a:ln w="10160">
            <a:solidFill>
              <a:srgbClr val="3B82F6"/>
            </a:solidFill>
            <a:prstDash val="solid"/>
            <a:tailEnd type="arrow"/>
          </a:ln>
        </p:spPr>
      </p:sp>
      <p:sp>
        <p:nvSpPr>
          <p:cNvPr id="64" name="Shape 62"/>
          <p:cNvSpPr/>
          <p:nvPr/>
        </p:nvSpPr>
        <p:spPr>
          <a:xfrm>
            <a:off x="7287768" y="1664208"/>
            <a:ext cx="1060704" cy="1115568"/>
          </a:xfrm>
          <a:prstGeom prst="roundRect">
            <a:avLst>
              <a:gd name="adj" fmla="val 6897"/>
            </a:avLst>
          </a:prstGeom>
          <a:solidFill>
            <a:srgbClr val="8B5CF6">
              <a:alpha val="28000"/>
            </a:srgbClr>
          </a:solidFill>
          <a:ln w="15240">
            <a:solidFill>
              <a:srgbClr val="8B5CF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598664" y="1737360"/>
            <a:ext cx="457200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98664" y="1737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7333488" y="2157984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Design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8348472" y="2862072"/>
            <a:ext cx="54864" cy="0"/>
          </a:xfrm>
          <a:prstGeom prst="line">
            <a:avLst/>
          </a:prstGeom>
          <a:noFill/>
          <a:ln w="10160">
            <a:solidFill>
              <a:srgbClr val="8B5CF6"/>
            </a:solidFill>
            <a:prstDash val="solid"/>
            <a:tailEnd type="arrow"/>
          </a:ln>
        </p:spPr>
      </p:sp>
      <p:sp>
        <p:nvSpPr>
          <p:cNvPr id="69" name="Shape 67"/>
          <p:cNvSpPr/>
          <p:nvPr/>
        </p:nvSpPr>
        <p:spPr>
          <a:xfrm>
            <a:off x="8403336" y="1664208"/>
            <a:ext cx="1060704" cy="1115568"/>
          </a:xfrm>
          <a:prstGeom prst="roundRect">
            <a:avLst>
              <a:gd name="adj" fmla="val 6897"/>
            </a:avLst>
          </a:prstGeom>
          <a:solidFill>
            <a:srgbClr val="F59E0B">
              <a:alpha val="28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714232" y="1737360"/>
            <a:ext cx="457200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714232" y="1737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P3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8449056" y="2157984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Design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9464040" y="2862072"/>
            <a:ext cx="54864" cy="0"/>
          </a:xfrm>
          <a:prstGeom prst="line">
            <a:avLst/>
          </a:prstGeom>
          <a:noFill/>
          <a:ln w="10160">
            <a:solidFill>
              <a:srgbClr val="F59E0B"/>
            </a:solidFill>
            <a:prstDash val="solid"/>
            <a:tailEnd type="arrow"/>
          </a:ln>
        </p:spPr>
      </p:sp>
      <p:sp>
        <p:nvSpPr>
          <p:cNvPr id="74" name="Shape 72"/>
          <p:cNvSpPr/>
          <p:nvPr/>
        </p:nvSpPr>
        <p:spPr>
          <a:xfrm>
            <a:off x="9518904" y="1664208"/>
            <a:ext cx="1060704" cy="1115568"/>
          </a:xfrm>
          <a:prstGeom prst="roundRect">
            <a:avLst>
              <a:gd name="adj" fmla="val 6897"/>
            </a:avLst>
          </a:prstGeom>
          <a:solidFill>
            <a:srgbClr val="EA6C19">
              <a:alpha val="28000"/>
            </a:srgbClr>
          </a:solidFill>
          <a:ln w="15240">
            <a:solidFill>
              <a:srgbClr val="EA6C19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829800" y="1737360"/>
            <a:ext cx="457200" cy="384048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829800" y="1737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P4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564624" y="2157984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10579608" y="2862072"/>
            <a:ext cx="54864" cy="0"/>
          </a:xfrm>
          <a:prstGeom prst="line">
            <a:avLst/>
          </a:prstGeom>
          <a:noFill/>
          <a:ln w="10160">
            <a:solidFill>
              <a:srgbClr val="EA6C19"/>
            </a:solidFill>
            <a:prstDash val="solid"/>
            <a:tailEnd type="arrow"/>
          </a:ln>
        </p:spPr>
      </p:sp>
      <p:sp>
        <p:nvSpPr>
          <p:cNvPr id="79" name="Shape 77"/>
          <p:cNvSpPr/>
          <p:nvPr/>
        </p:nvSpPr>
        <p:spPr>
          <a:xfrm>
            <a:off x="10634472" y="1664208"/>
            <a:ext cx="1060704" cy="1115568"/>
          </a:xfrm>
          <a:prstGeom prst="roundRect">
            <a:avLst>
              <a:gd name="adj" fmla="val 6897"/>
            </a:avLst>
          </a:prstGeom>
          <a:solidFill>
            <a:srgbClr val="22C55E">
              <a:alpha val="28000"/>
            </a:srgbClr>
          </a:solidFill>
          <a:ln w="15240">
            <a:solidFill>
              <a:srgbClr val="22C55E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945368" y="1737360"/>
            <a:ext cx="457200" cy="38404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945368" y="1737360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</a:t>
            </a:r>
            <a:endParaRPr lang="en-US" sz="1200" dirty="0"/>
          </a:p>
        </p:txBody>
      </p:sp>
      <p:sp>
        <p:nvSpPr>
          <p:cNvPr id="82" name="Text 80"/>
          <p:cNvSpPr/>
          <p:nvPr/>
        </p:nvSpPr>
        <p:spPr>
          <a:xfrm>
            <a:off x="10680192" y="2157984"/>
            <a:ext cx="9692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172200" y="294436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PPAP Elements: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6172200" y="32735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217920" y="3291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Design Records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8074152" y="32735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119872" y="3291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Eng. Change Docs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9976104" y="32735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021824" y="32918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Customer Approval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6172200" y="391363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217920" y="3931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PFMEA</a:t>
            </a:r>
            <a:endParaRPr lang="en-US" sz="750" dirty="0"/>
          </a:p>
        </p:txBody>
      </p:sp>
      <p:sp>
        <p:nvSpPr>
          <p:cNvPr id="92" name="Shape 90"/>
          <p:cNvSpPr/>
          <p:nvPr/>
        </p:nvSpPr>
        <p:spPr>
          <a:xfrm>
            <a:off x="8074152" y="391363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119872" y="3931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Process Flow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9976104" y="391363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0021824" y="393192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Control Plan</a:t>
            </a:r>
            <a:endParaRPr lang="en-US" sz="750" dirty="0"/>
          </a:p>
        </p:txBody>
      </p:sp>
      <p:sp>
        <p:nvSpPr>
          <p:cNvPr id="96" name="Shape 94"/>
          <p:cNvSpPr/>
          <p:nvPr/>
        </p:nvSpPr>
        <p:spPr>
          <a:xfrm>
            <a:off x="6172200" y="455371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6217920" y="45720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MSA Studies</a:t>
            </a:r>
            <a:endParaRPr lang="en-US" sz="750" dirty="0"/>
          </a:p>
        </p:txBody>
      </p:sp>
      <p:sp>
        <p:nvSpPr>
          <p:cNvPr id="98" name="Shape 96"/>
          <p:cNvSpPr/>
          <p:nvPr/>
        </p:nvSpPr>
        <p:spPr>
          <a:xfrm>
            <a:off x="8074152" y="455371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8119872" y="45720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Dimensional Results</a:t>
            </a:r>
            <a:endParaRPr lang="en-US" sz="750" dirty="0"/>
          </a:p>
        </p:txBody>
      </p:sp>
      <p:sp>
        <p:nvSpPr>
          <p:cNvPr id="100" name="Shape 98"/>
          <p:cNvSpPr/>
          <p:nvPr/>
        </p:nvSpPr>
        <p:spPr>
          <a:xfrm>
            <a:off x="9976104" y="455371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021824" y="457200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Material Test Results</a:t>
            </a:r>
            <a:endParaRPr lang="en-US" sz="750" dirty="0"/>
          </a:p>
        </p:txBody>
      </p:sp>
      <p:sp>
        <p:nvSpPr>
          <p:cNvPr id="102" name="Shape 100"/>
          <p:cNvSpPr/>
          <p:nvPr/>
        </p:nvSpPr>
        <p:spPr>
          <a:xfrm>
            <a:off x="6172200" y="519379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6217920" y="52120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Performance Tests</a:t>
            </a:r>
            <a:endParaRPr lang="en-US" sz="750" dirty="0"/>
          </a:p>
        </p:txBody>
      </p:sp>
      <p:sp>
        <p:nvSpPr>
          <p:cNvPr id="104" name="Shape 102"/>
          <p:cNvSpPr/>
          <p:nvPr/>
        </p:nvSpPr>
        <p:spPr>
          <a:xfrm>
            <a:off x="8074152" y="519379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8119872" y="52120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Initial Process Studies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9976104" y="519379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021824" y="521208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Qualified Lab Docs</a:t>
            </a:r>
            <a:endParaRPr lang="en-US" sz="750" dirty="0"/>
          </a:p>
        </p:txBody>
      </p:sp>
      <p:sp>
        <p:nvSpPr>
          <p:cNvPr id="108" name="Shape 106"/>
          <p:cNvSpPr/>
          <p:nvPr/>
        </p:nvSpPr>
        <p:spPr>
          <a:xfrm>
            <a:off x="6172200" y="583387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217920" y="5852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 Appearance Approval</a:t>
            </a:r>
            <a:endParaRPr lang="en-US" sz="750" dirty="0"/>
          </a:p>
        </p:txBody>
      </p:sp>
      <p:sp>
        <p:nvSpPr>
          <p:cNvPr id="110" name="Shape 108"/>
          <p:cNvSpPr/>
          <p:nvPr/>
        </p:nvSpPr>
        <p:spPr>
          <a:xfrm>
            <a:off x="8074152" y="583387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119872" y="5852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 Sample Parts</a:t>
            </a:r>
            <a:endParaRPr lang="en-US" sz="750" dirty="0"/>
          </a:p>
        </p:txBody>
      </p:sp>
      <p:sp>
        <p:nvSpPr>
          <p:cNvPr id="112" name="Shape 110"/>
          <p:cNvSpPr/>
          <p:nvPr/>
        </p:nvSpPr>
        <p:spPr>
          <a:xfrm>
            <a:off x="9976104" y="583387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021824" y="585216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 Master Sample</a:t>
            </a:r>
            <a:endParaRPr lang="en-US" sz="750" dirty="0"/>
          </a:p>
        </p:txBody>
      </p:sp>
      <p:sp>
        <p:nvSpPr>
          <p:cNvPr id="114" name="Shape 112"/>
          <p:cNvSpPr/>
          <p:nvPr/>
        </p:nvSpPr>
        <p:spPr>
          <a:xfrm>
            <a:off x="6172200" y="64739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217920" y="64922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 Checking Aids</a:t>
            </a:r>
            <a:endParaRPr lang="en-US" sz="750" dirty="0"/>
          </a:p>
        </p:txBody>
      </p:sp>
      <p:sp>
        <p:nvSpPr>
          <p:cNvPr id="116" name="Shape 114"/>
          <p:cNvSpPr/>
          <p:nvPr/>
        </p:nvSpPr>
        <p:spPr>
          <a:xfrm>
            <a:off x="8074152" y="64739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8119872" y="64922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 Customer-Specific</a:t>
            </a:r>
            <a:endParaRPr lang="en-US" sz="750" dirty="0"/>
          </a:p>
        </p:txBody>
      </p:sp>
      <p:sp>
        <p:nvSpPr>
          <p:cNvPr id="118" name="Shape 116"/>
          <p:cNvSpPr/>
          <p:nvPr/>
        </p:nvSpPr>
        <p:spPr>
          <a:xfrm>
            <a:off x="9976104" y="6473952"/>
            <a:ext cx="1828800" cy="566928"/>
          </a:xfrm>
          <a:prstGeom prst="roundRect">
            <a:avLst>
              <a:gd name="adj" fmla="val 9677"/>
            </a:avLst>
          </a:prstGeom>
          <a:solidFill>
            <a:srgbClr val="0F172A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021824" y="6492240"/>
            <a:ext cx="1737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 PSW (Submission Warrant)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to Certification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audit-ready in a structured, Isa-guided journey — at your own pace.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3794760" cy="5285232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25400">
            <a:solidFill>
              <a:srgbClr val="EA6C1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261872"/>
            <a:ext cx="3794760" cy="1005840"/>
          </a:xfrm>
          <a:prstGeom prst="roundRect">
            <a:avLst>
              <a:gd name="adj" fmla="val 12727"/>
            </a:avLst>
          </a:prstGeom>
          <a:solidFill>
            <a:srgbClr val="EA6C19">
              <a:alpha val="28000"/>
            </a:srgbClr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353312"/>
            <a:ext cx="594360" cy="594360"/>
          </a:xfrm>
          <a:prstGeom prst="ellips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33272" y="14081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23591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System Profile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" y="29077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" y="2907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3-part Organization Wizard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" y="33649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" y="33649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your processes &amp; interactions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8328" y="38221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2648" y="3822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scope, exclusions &amp; standards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" y="42793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" y="4279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quality policy &amp; org chart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" y="47365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12648" y="4736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PESTLE &amp; interested parties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" y="51937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" y="5193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 guides you through every field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8328" y="5742432"/>
            <a:ext cx="3575304" cy="685800"/>
          </a:xfrm>
          <a:prstGeom prst="roundRect">
            <a:avLst>
              <a:gd name="adj" fmla="val 10667"/>
            </a:avLst>
          </a:prstGeom>
          <a:solidFill>
            <a:srgbClr val="EA6C19">
              <a:alpha val="18000"/>
            </a:srgbClr>
          </a:solidFill>
          <a:ln w="10160">
            <a:solidFill>
              <a:srgbClr val="EA6C1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5760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Isa knows your organization — every consultation is now tailored to your exact context, scope, and standard.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023360" y="384048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215384" y="1261872"/>
            <a:ext cx="3794760" cy="5285232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215384" y="1261872"/>
            <a:ext cx="3794760" cy="1005840"/>
          </a:xfrm>
          <a:prstGeom prst="roundRect">
            <a:avLst>
              <a:gd name="adj" fmla="val 12727"/>
            </a:avLst>
          </a:prstGeom>
          <a:solidFill>
            <a:srgbClr val="3B82F6">
              <a:alpha val="28000"/>
            </a:srgbClr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52544" y="1353312"/>
            <a:ext cx="594360" cy="5943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52544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020056" y="14081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52544" y="23591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QMS Daily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325112" y="29077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99432" y="2907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&amp; resolve nonconformances (8D)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25112" y="33649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99432" y="33649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layered process audits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325112" y="38221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599432" y="3822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update your risk register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325112" y="42793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599432" y="4279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documents with version control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25112" y="47365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99432" y="4736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supplier performance scores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325112" y="51937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99432" y="5193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management review minutes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325112" y="5742432"/>
            <a:ext cx="3575304" cy="685800"/>
          </a:xfrm>
          <a:prstGeom prst="roundRect">
            <a:avLst>
              <a:gd name="adj" fmla="val 10667"/>
            </a:avLst>
          </a:prstGeom>
          <a:solidFill>
            <a:srgbClr val="3B82F6">
              <a:alpha val="18000"/>
            </a:srgbClr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98264" y="5760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Every module connects to every other. NCs link to CAPAs, audits link to NCs, risks link to objectives.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8010144" y="3840480"/>
            <a:ext cx="32918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8202168" y="1261872"/>
            <a:ext cx="3794760" cy="5285232"/>
          </a:xfrm>
          <a:prstGeom prst="roundRect">
            <a:avLst>
              <a:gd name="adj" fmla="val 3373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202168" y="1261872"/>
            <a:ext cx="3794760" cy="1005840"/>
          </a:xfrm>
          <a:prstGeom prst="roundRect">
            <a:avLst>
              <a:gd name="adj" fmla="val 12727"/>
            </a:avLst>
          </a:prstGeom>
          <a:solidFill>
            <a:srgbClr val="22C55E">
              <a:alpha val="28000"/>
            </a:srgbClr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339328" y="1353312"/>
            <a:ext cx="594360" cy="5943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9328" y="1353312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9006840" y="1408176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CERTIFY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339328" y="2359152"/>
            <a:ext cx="3520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for External Audit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8311896" y="29077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8586216" y="2907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Isa's pre-audit gap assessment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311896" y="33649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8586216" y="33649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compliance map vs. standard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8311896" y="38221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86216" y="38221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audit-ready document package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8311896" y="42793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8586216" y="42793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all NCs are closed &amp; effective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8311896" y="47365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8586216" y="47365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management review outputs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311896" y="51937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8586216" y="51937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auditors through the live system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8311896" y="5742432"/>
            <a:ext cx="3575304" cy="685800"/>
          </a:xfrm>
          <a:prstGeom prst="roundRect">
            <a:avLst>
              <a:gd name="adj" fmla="val 10667"/>
            </a:avLst>
          </a:prstGeom>
          <a:solidFill>
            <a:srgbClr val="22C55E">
              <a:alpha val="18000"/>
            </a:srgbClr>
          </a:solidFill>
          <a:ln w="10160">
            <a:solidFill>
              <a:srgbClr val="22C5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385048" y="5760720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Walk into your external audit with confidence. Isa has already found every gap — before the registrar does.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54864"/>
            <a:ext cx="5303520" cy="674827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74320"/>
            <a:ext cx="1828800" cy="237744"/>
          </a:xfrm>
          <a:prstGeom prst="roundRect">
            <a:avLst>
              <a:gd name="adj" fmla="val 50000"/>
            </a:avLst>
          </a:prstGeom>
          <a:solidFill>
            <a:srgbClr val="EA6C19">
              <a:alpha val="18000"/>
            </a:srgbClr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7432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STORY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594360"/>
            <a:ext cx="4754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CCI Chemical, Inc.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74320" y="117043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Detroit, MI  ·  IATF 16949:2016  ·  85 Employees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32004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45920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4 brake fluid, industrial lubricants &amp; automotive fluids for Tier 1 OEM customers. No design responsibility — customer-directed designs.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395728"/>
            <a:ext cx="2359152" cy="1353312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505456"/>
            <a:ext cx="2359152" cy="7443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274320" y="3180649"/>
            <a:ext cx="2359152" cy="51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Controlled Documents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QM through Work Instructions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61488" y="2395728"/>
            <a:ext cx="2359152" cy="1353312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9050">
            <a:solidFill>
              <a:srgbClr val="EA6C1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61488" y="2505456"/>
            <a:ext cx="2359152" cy="7443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761488" y="3180649"/>
            <a:ext cx="2359152" cy="51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Assessed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&amp; strategic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4320" y="3858768"/>
            <a:ext cx="2359152" cy="1353312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4320" y="3968496"/>
            <a:ext cx="2359152" cy="7443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74320" y="4643689"/>
            <a:ext cx="2359152" cy="51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Mgmt Reviews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minutes &amp; action tracking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61488" y="3858768"/>
            <a:ext cx="2359152" cy="1353312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3968496"/>
            <a:ext cx="2359152" cy="7443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2761488" y="4643689"/>
            <a:ext cx="2359152" cy="51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Items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Cross-source, all tracked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74320" y="5321808"/>
            <a:ext cx="2359152" cy="1353312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5431536"/>
            <a:ext cx="2359152" cy="7443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274320" y="6106729"/>
            <a:ext cx="2359152" cy="51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Points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Actuals vs. targets, trending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2761488" y="5321808"/>
            <a:ext cx="2359152" cy="1353312"/>
          </a:xfrm>
          <a:prstGeom prst="roundRect">
            <a:avLst>
              <a:gd name="adj" fmla="val 6757"/>
            </a:avLst>
          </a:prstGeom>
          <a:solidFill>
            <a:srgbClr val="0F172A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61488" y="5431536"/>
            <a:ext cx="2359152" cy="74432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2761488" y="6106729"/>
            <a:ext cx="2359152" cy="51425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Trained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Competency matrix complete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577840" y="457200"/>
            <a:ext cx="6400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Active at CCI Chemical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577840" y="932688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15000" y="98755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 Documentation Library — 26 professional docs, AI-drafted by Isa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77840" y="1645920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15000" y="1700784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NC &amp; CAPA — full 8D corrective action workflow active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2359152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715000" y="2414016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Risk Register — 19 risks, PESTLE &amp; SWOT exports complete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577840" y="3072384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715000" y="3127248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Management Review — Q1 &amp; Q2 with AI-generated minutes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577840" y="3785616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15000" y="3840480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Action Item Tracker — all sources linked and monitored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577840" y="4498848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15000" y="4553712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KPI Dashboard — 32 actuals vs. targets with trend charts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77840" y="5212080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715000" y="5266944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Training — 12 employees, multi-file evidence library live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577840" y="5925312"/>
            <a:ext cx="6473952" cy="64008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6350">
            <a:solidFill>
              <a:srgbClr val="EA6C1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15000" y="5980176"/>
            <a:ext cx="6217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Context of Org — PESTLE, SWOT, interested parties mapped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577840" y="6473952"/>
            <a:ext cx="6473952" cy="201168"/>
          </a:xfrm>
          <a:prstGeom prst="roundRect">
            <a:avLst>
              <a:gd name="adj" fmla="val 22727"/>
            </a:avLst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ISO Manager Wins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manufacturers. AI-native from day one. Nothing else comes close.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43000"/>
            <a:ext cx="11612880" cy="5413248"/>
          </a:xfrm>
          <a:prstGeom prst="roundRect">
            <a:avLst>
              <a:gd name="adj" fmla="val 2027"/>
            </a:avLst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143000"/>
            <a:ext cx="11612880" cy="411480"/>
          </a:xfrm>
          <a:prstGeom prst="roundRect">
            <a:avLst>
              <a:gd name="adj" fmla="val 26667"/>
            </a:avLst>
          </a:prstGeom>
          <a:solidFill>
            <a:srgbClr val="334155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961120" y="118872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Manager + Isa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607040" y="118872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1600200"/>
            <a:ext cx="11612880" cy="3931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65506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Lead Auditor (Isa) built in — clause-specific, not generic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308592" y="168249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90304" y="16733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0954512" y="168249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36224" y="16733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011680"/>
            <a:ext cx="11612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206654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IATF 16949 Customer-Specific Requirements (GM / Ford / Stellantis)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08592" y="209397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290304" y="20848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954512" y="209397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36224" y="20848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423160"/>
            <a:ext cx="11612880" cy="3931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247802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Process Audits (LPA) — L1–L5, OEM-compliant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9308592" y="250545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290304" y="24963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0954512" y="250545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936224" y="24963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834640"/>
            <a:ext cx="11612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88950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Turtle diagram process audits (§9.2.2.4)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308592" y="291693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290304" y="29077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954512" y="291693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936224" y="29077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74320" y="3246120"/>
            <a:ext cx="11612880" cy="3931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330098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ISO standards simultaneously in one platform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9308592" y="332841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290304" y="33192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10954512" y="332841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936224" y="33192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74320" y="3657600"/>
            <a:ext cx="11612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371246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drafting — full procedures generated in seconds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9308592" y="373989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290304" y="37307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0954512" y="373989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936224" y="37307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74320" y="4069080"/>
            <a:ext cx="11612880" cy="3931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49" name="Text 47"/>
          <p:cNvSpPr/>
          <p:nvPr/>
        </p:nvSpPr>
        <p:spPr>
          <a:xfrm>
            <a:off x="457200" y="412394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Action Item Tracker — nothing orphaned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9308592" y="415137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290304" y="41422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10954512" y="415137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936224" y="41422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4480560"/>
            <a:ext cx="11612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5" name="Text 53"/>
          <p:cNvSpPr/>
          <p:nvPr/>
        </p:nvSpPr>
        <p:spPr>
          <a:xfrm>
            <a:off x="457200" y="453542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APQP &amp; PPAP (all 18 elements) built in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9308592" y="456285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290304" y="45537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10954512" y="456285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936224" y="45537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274320" y="4892040"/>
            <a:ext cx="11612880" cy="3931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1" name="Text 59"/>
          <p:cNvSpPr/>
          <p:nvPr/>
        </p:nvSpPr>
        <p:spPr>
          <a:xfrm>
            <a:off x="457200" y="494690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Row-Level Security — enterprise data isolation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9308592" y="497433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290304" y="49651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10954512" y="497433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936224" y="496519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74320" y="5303520"/>
            <a:ext cx="11612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67" name="Text 65"/>
          <p:cNvSpPr/>
          <p:nvPr/>
        </p:nvSpPr>
        <p:spPr>
          <a:xfrm>
            <a:off x="457200" y="535838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file library with 10 controlled document categories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308592" y="538581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290304" y="5376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954512" y="538581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0936224" y="537667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274320" y="5715000"/>
            <a:ext cx="11612880" cy="393192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73" name="Text 71"/>
          <p:cNvSpPr/>
          <p:nvPr/>
        </p:nvSpPr>
        <p:spPr>
          <a:xfrm>
            <a:off x="457200" y="576986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Mobile-ready audit conduct — on the shop floor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308592" y="579729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290304" y="57881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954512" y="579729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936224" y="578815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274320" y="6126480"/>
            <a:ext cx="11612880" cy="393192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79" name="Text 77"/>
          <p:cNvSpPr/>
          <p:nvPr/>
        </p:nvSpPr>
        <p:spPr>
          <a:xfrm>
            <a:off x="457200" y="6181344"/>
            <a:ext cx="841248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AI minutes — pre-filled from live data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9308592" y="6208776"/>
            <a:ext cx="237744" cy="237744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9290304" y="61996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954512" y="6208776"/>
            <a:ext cx="237744" cy="237744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0936224" y="619963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84" name="Text 82"/>
          <p:cNvSpPr/>
          <p:nvPr/>
        </p:nvSpPr>
        <p:spPr>
          <a:xfrm>
            <a:off x="0" y="6446520"/>
            <a:ext cx="1219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Manager + Isa is the only platform that does ALL of this — natively, seamlessly, purpose-built for manufacturers.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74320"/>
            <a:ext cx="11247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Enterprise-Grade. Built to Last.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architecture with two independent data isolation layers — your data is always yours alone.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" y="1298448"/>
            <a:ext cx="5760720" cy="2514600"/>
          </a:xfrm>
          <a:prstGeom prst="roundRect">
            <a:avLst>
              <a:gd name="adj" fmla="val 5091"/>
            </a:avLst>
          </a:prstGeom>
          <a:solidFill>
            <a:srgbClr val="1E293B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8328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🔒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69848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5760" y="210312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40080" y="2103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RLS enforced on all 90 tenant tables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252374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523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Database-layer isolation — protects even if a route bug occurs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29443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2944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App-layer: 767+ explicit user-scoping references in code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65760" y="33649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3649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bypass with session-level per-request control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298448"/>
            <a:ext cx="5760720" cy="2514600"/>
          </a:xfrm>
          <a:prstGeom prst="roundRect">
            <a:avLst>
              <a:gd name="adj" fmla="val 5091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27648" y="14630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🤖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7059168" y="155448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AI-Native Architecture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55080" y="210312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29400" y="210312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enterprise AI, never trained on your data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355080" y="252374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629400" y="252374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Isa's personas are domain-trained across 5 ISO standards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55080" y="2944368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29400" y="2944368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conversation isolation per tenant account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55080" y="336499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629400" y="336499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— your org profile informs every answer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28600" y="4023360"/>
            <a:ext cx="5760720" cy="2514600"/>
          </a:xfrm>
          <a:prstGeom prst="roundRect">
            <a:avLst>
              <a:gd name="adj" fmla="val 5091"/>
            </a:avLst>
          </a:prstGeom>
          <a:solidFill>
            <a:srgbClr val="1E293B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38328" y="4187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📱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1069848" y="42793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Tech Stack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365760" y="482803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828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frontend — fast, responsive, mobile-ready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65760" y="524865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40080" y="5248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+ Node.js backend with full TypeScript safety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566928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640080" y="56692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Drizzle ORM for type-safe queries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65760" y="60899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640080" y="6089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Web App (PWA) — installable, works offline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17920" y="4023360"/>
            <a:ext cx="5760720" cy="2514600"/>
          </a:xfrm>
          <a:prstGeom prst="roundRect">
            <a:avLst>
              <a:gd name="adj" fmla="val 5091"/>
            </a:avLst>
          </a:prstGeom>
          <a:solidFill>
            <a:srgbClr val="1E293B"/>
          </a:solidFill>
          <a:ln w="19050">
            <a:solidFill>
              <a:srgbClr val="EA6C1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4187952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7059168" y="4279392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Scale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355080" y="4828032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629400" y="4828032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company gets a fully isolated QMS environment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355080" y="5248656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629400" y="5248656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role system: Librarian / Trainer / Internal Auditor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55080" y="5669280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6629400" y="56692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management with multi-seat billing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6355080" y="6089904"/>
            <a:ext cx="256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6629400" y="6089904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 dashboard for CCHUB operations oversight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EA6C19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0"/>
            <a:ext cx="914400" cy="6858000"/>
          </a:xfrm>
          <a:prstGeom prst="rtTriangle">
            <a:avLst/>
          </a:prstGeom>
          <a:solidFill>
            <a:srgbClr val="EA6C19"/>
          </a:solidFill>
          <a:ln w="12700">
            <a:solidFill>
              <a:srgbClr val="EA6C1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502920"/>
            <a:ext cx="457200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Run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Cruise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Control?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20040" y="4187952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ISO QMS is waiting.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20040" y="4681728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corecompliancehub.com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20040" y="5102352"/>
            <a:ext cx="36576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523036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ACSI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Compliance Solutions International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355080" y="502920"/>
            <a:ext cx="55778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Journey with Isa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355080" y="114300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get started today: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55080" y="1572768"/>
            <a:ext cx="5596128" cy="1417320"/>
          </a:xfrm>
          <a:prstGeom prst="roundRect">
            <a:avLst>
              <a:gd name="adj" fmla="val 9032"/>
            </a:avLst>
          </a:prstGeom>
          <a:solidFill>
            <a:srgbClr val="1E293B"/>
          </a:solidFill>
          <a:ln w="25400">
            <a:solidFill>
              <a:srgbClr val="EA6C1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168249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🎯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7269480" y="171907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a Live Demo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269480" y="206654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Isa in action with your processes, your standard, and your real questions.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55080" y="3127248"/>
            <a:ext cx="5596128" cy="1417320"/>
          </a:xfrm>
          <a:prstGeom prst="roundRect">
            <a:avLst>
              <a:gd name="adj" fmla="val 9032"/>
            </a:avLst>
          </a:prstGeom>
          <a:solidFill>
            <a:srgbClr val="1E293B"/>
          </a:solidFill>
          <a:ln w="254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323697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269480" y="327355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Your Free Trial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269480" y="362102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your ISO Manager environment up in minutes. No credit card required.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355080" y="4681728"/>
            <a:ext cx="5596128" cy="1417320"/>
          </a:xfrm>
          <a:prstGeom prst="roundRect">
            <a:avLst>
              <a:gd name="adj" fmla="val 9032"/>
            </a:avLst>
          </a:prstGeom>
          <a:solidFill>
            <a:srgbClr val="1E293B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46520" y="47914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💬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269480" y="482803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to an ISO Expert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269480" y="5175504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30-minute consultation with our ACSI team. We will map your path to certification.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355080" y="6291072"/>
            <a:ext cx="5596128" cy="420624"/>
          </a:xfrm>
          <a:prstGeom prst="roundRect">
            <a:avLst>
              <a:gd name="adj" fmla="val 21739"/>
            </a:avLst>
          </a:prstGeom>
          <a:solidFill>
            <a:srgbClr val="334155"/>
          </a:solidFill>
          <a:ln/>
        </p:spPr>
      </p:sp>
      <p:sp>
        <p:nvSpPr>
          <p:cNvPr id="25" name="Text 23"/>
          <p:cNvSpPr/>
          <p:nvPr/>
        </p:nvSpPr>
        <p:spPr>
          <a:xfrm>
            <a:off x="6446520" y="629107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14+ Modules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479792" y="6400800"/>
            <a:ext cx="0" cy="201168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562088" y="629107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Standards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595360" y="6400800"/>
            <a:ext cx="0" cy="201168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629107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9710928" y="6400800"/>
            <a:ext cx="0" cy="201168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93224" y="629107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Audit-Ready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10826496" y="6400800"/>
            <a:ext cx="0" cy="201168"/>
          </a:xfrm>
          <a:prstGeom prst="line">
            <a:avLst/>
          </a:prstGeom>
          <a:noFill/>
          <a:ln w="6350">
            <a:solidFill>
              <a:srgbClr val="64748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908792" y="6291072"/>
            <a:ext cx="1078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A6C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Mfg-Focused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0" y="6803136"/>
            <a:ext cx="12192000" cy="54864"/>
          </a:xfrm>
          <a:prstGeom prst="rect">
            <a:avLst/>
          </a:prstGeom>
          <a:solidFill>
            <a:srgbClr val="EA6C19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2026-05-12T18:11:37Z</dcterms:created>
  <dcterms:modified xsi:type="dcterms:W3CDTF">2026-05-12T18:11:37Z</dcterms:modified>
</cp:coreProperties>
</file>